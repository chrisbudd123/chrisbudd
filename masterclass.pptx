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7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93" d="100"/>
          <a:sy n="93" d="100"/>
        </p:scale>
        <p:origin x="744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5EF58D-B62B-40BB-83AA-9D07CFC4ED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8" y="557783"/>
            <a:ext cx="10969752" cy="3130807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AC06D3-F571-4213-A2A4-6A1915120C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8" y="3902206"/>
            <a:ext cx="10969752" cy="2240529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A10580-AD31-4B8F-8448-55A666AC17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5A860-F335-4252-AA00-24FB67ED2982}" type="datetime1">
              <a:rPr lang="en-US" smtClean="0"/>
              <a:t>3/8/2024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EC99C8-515A-4FEA-9CD2-6D0BF46CF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72AF1B-1868-4C05-B6C3-9EBF29A50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67975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E6D384-B2C5-42A4-9774-A931C39BA5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8D736C-5FCC-43BC-B824-A90F2CC5D1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4A3A50-B922-45BE-945D-7ED3EBD83F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BC802-30E3-4658-9CCA-F873646FEC67}" type="datetime1">
              <a:rPr lang="en-US" smtClean="0"/>
              <a:t>3/8/2024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241F78-20DE-4D53-BB25-79E5C4E1AB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643084-C669-4FDF-87D4-F22D36BB82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68764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C6C559-800C-489A-9174-7901F92B0D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57784"/>
            <a:ext cx="10969752" cy="3146400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42B5C3-320B-4CFD-B6A7-A28C7E435B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8" y="3902207"/>
            <a:ext cx="10969752" cy="2187443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FCA372-3F42-4113-A73B-5FDCF93CB5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B227A3-19CE-4153-81CE-64EB7AB094B3}" type="datetime1">
              <a:rPr lang="en-US" smtClean="0"/>
              <a:t>3/8/2024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DA1197-0C78-4878-B086-5D206EA491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B83D8-FD42-44FF-AA20-944A519CC0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09322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D685AA-B5C7-4E3D-85FA-94F3C73E59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3AFEEA-6F3F-4630-A950-61C05D2FAF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2081369"/>
            <a:ext cx="5410200" cy="40955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C36817-B869-4D19-9EE8-A3166B0E15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2" y="2081369"/>
            <a:ext cx="5410200" cy="40955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074146-2374-4321-AEBB-3E9B09D779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19A100-10F6-477E-8847-29D479EF1C92}" type="datetime1">
              <a:rPr lang="en-US" smtClean="0"/>
              <a:t>3/8/2024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42337B-B902-4DC2-BB94-02B8A75492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4AD585-B83C-4ECF-AF42-8DDF6996B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03553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3A9ADB-3495-481F-BB4E-9C7128B17B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5125"/>
            <a:ext cx="10745788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D6FF4C-26CB-4281-A2F7-6CBE451867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895096"/>
            <a:ext cx="5387975" cy="823912"/>
          </a:xfrm>
        </p:spPr>
        <p:txBody>
          <a:bodyPr anchor="b"/>
          <a:lstStyle>
            <a:lvl1pPr marL="0" indent="0">
              <a:buNone/>
              <a:defRPr sz="2400" b="0" i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2E72A9-F222-45B4-9355-C04C058641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842211"/>
            <a:ext cx="5387975" cy="33474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A699F6E-77AD-4EBC-BAF9-5A43CDEC41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67890" y="1895096"/>
            <a:ext cx="5414510" cy="823912"/>
          </a:xfrm>
        </p:spPr>
        <p:txBody>
          <a:bodyPr anchor="b"/>
          <a:lstStyle>
            <a:lvl1pPr marL="0" indent="0">
              <a:buNone/>
              <a:defRPr sz="2400" b="0" i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0F77677-7169-4591-B047-0678815F48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67890" y="2842211"/>
            <a:ext cx="5414510" cy="33474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482A6EB-0285-4FA4-A00C-A7F716084F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F128AB-198A-495F-8475-FDB360C9873F}" type="datetime1">
              <a:rPr lang="en-US" smtClean="0"/>
              <a:t>3/8/2024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6D39526-82B8-402C-8A2B-82EF8F3F3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55EC9E6-6FF1-4541-9CB1-A2FF9D8521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781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170F54-6CED-4251-A0A6-32CCD1213F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72C8E6-49D6-46A5-8DC3-B0D8E683C9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1A235E-F8FD-479F-9FC7-18BE84110877}" type="datetime1">
              <a:rPr lang="en-US" smtClean="0"/>
              <a:t>3/8/2024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883CBA-77CD-4490-A5F3-BAA8FC254A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A5FF79-61B6-4693-8547-95B1F2F7A1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22803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FBDCB94-13E9-41CB-88F0-D30A1791DC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90F09B-68DA-462E-9DB4-4C9ADAB8CBCC}" type="datetime1">
              <a:rPr lang="en-US" smtClean="0"/>
              <a:t>3/8/2024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4795A4-736C-426D-8559-5AD5892756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2A2ACD-17F3-4C16-8E77-86EC92CCD5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91418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7FCB2E-B68A-48F9-8B20-CDED818FB6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457199"/>
            <a:ext cx="4970822" cy="266020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081C83-64B5-4BFD-A163-75C2EA7F89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457200"/>
            <a:ext cx="5483352" cy="5744003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5D44AD-E361-48A3-936D-DDA0D51445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9" y="3329989"/>
            <a:ext cx="4970822" cy="2871216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EED06C-E016-489C-8863-EA1BE998BC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AC4E36-FABE-47EB-AA7F-C19A93824617}" type="datetime1">
              <a:rPr lang="en-US" smtClean="0"/>
              <a:t>3/8/2024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9161F0-D253-49A7-9A08-7A0A228146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42C61A-B326-40A7-A286-90D0544BBC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5555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F2DF6F-D00F-4CE4-8701-B006273461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457199"/>
            <a:ext cx="4970822" cy="266748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A0FF7AB-F851-4425-8407-996C920E68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096000" y="457199"/>
            <a:ext cx="5483352" cy="5403851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ED6CF5-154F-4615-8CDC-E2BFA61FAB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9" y="3322708"/>
            <a:ext cx="4970822" cy="254628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A5C400-0D13-495F-8C4E-EC3CDF5F22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9CE6B-5DE6-4A2D-B72E-5E8969F9F56F}" type="datetime1">
              <a:rPr lang="en-US" smtClean="0"/>
              <a:t>3/8/2024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B290D7-98AC-45E5-A7D6-73520AFC7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94276C-2BD2-4C4F-AC04-DD3D73768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81394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5170B0-C1C5-4976-80E8-6B4F90EB3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7593EE-493E-4BCE-8992-24CA63E1E0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80919F-FDDD-42FB-8422-A0665D558D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AB1048-0047-48CA-88BA-D69B470942CF}" type="datetime1">
              <a:rPr lang="en-US" smtClean="0"/>
              <a:t>3/8/2024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16D38A-35F8-4667-A1F4-49644471E9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9CC230-78B7-487B-9C95-CB00868F6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91614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14CB826-D9AA-4689-B8C0-38D999F0D06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557784"/>
            <a:ext cx="2854452" cy="564342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1F1CDD-16FB-45E0-9887-24374C5676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557784"/>
            <a:ext cx="7734300" cy="564342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846397-BBD2-4426-B1F5-FD6EA3CDC8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D83879-648C-49A9-81A2-0EF5946532D0}" type="datetime1">
              <a:rPr lang="en-US" smtClean="0"/>
              <a:t>3/8/2024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AB91E4-73D0-4ACD-8F54-00EE6FB1D6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B28C61-59FE-44D6-A7D6-AAD2922327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22416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42E603F-28B7-4831-BF23-65FBAB13D5FB}"/>
              </a:ext>
            </a:extLst>
          </p:cNvPr>
          <p:cNvSpPr/>
          <p:nvPr/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rgbClr val="AEAEAE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4D39700F-2B10-4402-A7DD-06EE224588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232968"/>
            <a:ext cx="9560477" cy="6625032"/>
          </a:xfrm>
          <a:custGeom>
            <a:avLst/>
            <a:gdLst>
              <a:gd name="connsiteX0" fmla="*/ 8831314 w 9263816"/>
              <a:gd name="connsiteY0" fmla="*/ 5943878 h 6858000"/>
              <a:gd name="connsiteX1" fmla="*/ 9179783 w 9263816"/>
              <a:gd name="connsiteY1" fmla="*/ 6086141 h 6858000"/>
              <a:gd name="connsiteX2" fmla="*/ 9260887 w 9263816"/>
              <a:gd name="connsiteY2" fmla="*/ 6279156 h 6858000"/>
              <a:gd name="connsiteX3" fmla="*/ 8925621 w 9263816"/>
              <a:gd name="connsiteY3" fmla="*/ 6708712 h 6858000"/>
              <a:gd name="connsiteX4" fmla="*/ 8496050 w 9263816"/>
              <a:gd name="connsiteY4" fmla="*/ 6373449 h 6858000"/>
              <a:gd name="connsiteX5" fmla="*/ 8831314 w 9263816"/>
              <a:gd name="connsiteY5" fmla="*/ 5943878 h 6858000"/>
              <a:gd name="connsiteX6" fmla="*/ 7397485 w 9263816"/>
              <a:gd name="connsiteY6" fmla="*/ 5931706 h 6858000"/>
              <a:gd name="connsiteX7" fmla="*/ 7917779 w 9263816"/>
              <a:gd name="connsiteY7" fmla="*/ 6191864 h 6858000"/>
              <a:gd name="connsiteX8" fmla="*/ 8013467 w 9263816"/>
              <a:gd name="connsiteY8" fmla="*/ 6375784 h 6858000"/>
              <a:gd name="connsiteX9" fmla="*/ 8021879 w 9263816"/>
              <a:gd name="connsiteY9" fmla="*/ 6753751 h 6858000"/>
              <a:gd name="connsiteX10" fmla="*/ 7981316 w 9263816"/>
              <a:gd name="connsiteY10" fmla="*/ 6858000 h 6858000"/>
              <a:gd name="connsiteX11" fmla="*/ 6819486 w 9263816"/>
              <a:gd name="connsiteY11" fmla="*/ 6858000 h 6858000"/>
              <a:gd name="connsiteX12" fmla="*/ 6785199 w 9263816"/>
              <a:gd name="connsiteY12" fmla="*/ 6781101 h 6858000"/>
              <a:gd name="connsiteX13" fmla="*/ 7196747 w 9263816"/>
              <a:gd name="connsiteY13" fmla="*/ 5964309 h 6858000"/>
              <a:gd name="connsiteX14" fmla="*/ 7397485 w 9263816"/>
              <a:gd name="connsiteY14" fmla="*/ 5931706 h 6858000"/>
              <a:gd name="connsiteX15" fmla="*/ 1505570 w 9263816"/>
              <a:gd name="connsiteY15" fmla="*/ 227178 h 6858000"/>
              <a:gd name="connsiteX16" fmla="*/ 2026489 w 9263816"/>
              <a:gd name="connsiteY16" fmla="*/ 392370 h 6858000"/>
              <a:gd name="connsiteX17" fmla="*/ 2444553 w 9263816"/>
              <a:gd name="connsiteY17" fmla="*/ 1654853 h 6858000"/>
              <a:gd name="connsiteX18" fmla="*/ 3183153 w 9263816"/>
              <a:gd name="connsiteY18" fmla="*/ 2116208 h 6858000"/>
              <a:gd name="connsiteX19" fmla="*/ 4288384 w 9263816"/>
              <a:gd name="connsiteY19" fmla="*/ 1291908 h 6858000"/>
              <a:gd name="connsiteX20" fmla="*/ 5472602 w 9263816"/>
              <a:gd name="connsiteY20" fmla="*/ 1697818 h 6858000"/>
              <a:gd name="connsiteX21" fmla="*/ 5844697 w 9263816"/>
              <a:gd name="connsiteY21" fmla="*/ 3444791 h 6858000"/>
              <a:gd name="connsiteX22" fmla="*/ 6715674 w 9263816"/>
              <a:gd name="connsiteY22" fmla="*/ 4065208 h 6858000"/>
              <a:gd name="connsiteX23" fmla="*/ 8130429 w 9263816"/>
              <a:gd name="connsiteY23" fmla="*/ 4101787 h 6858000"/>
              <a:gd name="connsiteX24" fmla="*/ 8624630 w 9263816"/>
              <a:gd name="connsiteY24" fmla="*/ 4686202 h 6858000"/>
              <a:gd name="connsiteX25" fmla="*/ 8623843 w 9263816"/>
              <a:gd name="connsiteY25" fmla="*/ 4685749 h 6858000"/>
              <a:gd name="connsiteX26" fmla="*/ 8646859 w 9263816"/>
              <a:gd name="connsiteY26" fmla="*/ 4835156 h 6858000"/>
              <a:gd name="connsiteX27" fmla="*/ 8079403 w 9263816"/>
              <a:gd name="connsiteY27" fmla="*/ 5661624 h 6858000"/>
              <a:gd name="connsiteX28" fmla="*/ 6833105 w 9263816"/>
              <a:gd name="connsiteY28" fmla="*/ 5397208 h 6858000"/>
              <a:gd name="connsiteX29" fmla="*/ 5900832 w 9263816"/>
              <a:gd name="connsiteY29" fmla="*/ 5944462 h 6858000"/>
              <a:gd name="connsiteX30" fmla="*/ 6067212 w 9263816"/>
              <a:gd name="connsiteY30" fmla="*/ 6811916 h 6858000"/>
              <a:gd name="connsiteX31" fmla="*/ 6089565 w 9263816"/>
              <a:gd name="connsiteY31" fmla="*/ 6858000 h 6858000"/>
              <a:gd name="connsiteX32" fmla="*/ 0 w 9263816"/>
              <a:gd name="connsiteY32" fmla="*/ 6858000 h 6858000"/>
              <a:gd name="connsiteX33" fmla="*/ 0 w 9263816"/>
              <a:gd name="connsiteY33" fmla="*/ 2181377 h 6858000"/>
              <a:gd name="connsiteX34" fmla="*/ 73069 w 9263816"/>
              <a:gd name="connsiteY34" fmla="*/ 2215839 h 6858000"/>
              <a:gd name="connsiteX35" fmla="*/ 335445 w 9263816"/>
              <a:gd name="connsiteY35" fmla="*/ 2237140 h 6858000"/>
              <a:gd name="connsiteX36" fmla="*/ 752878 w 9263816"/>
              <a:gd name="connsiteY36" fmla="*/ 1445285 h 6858000"/>
              <a:gd name="connsiteX37" fmla="*/ 1202551 w 9263816"/>
              <a:gd name="connsiteY37" fmla="*/ 314229 h 6858000"/>
              <a:gd name="connsiteX38" fmla="*/ 1505570 w 9263816"/>
              <a:gd name="connsiteY38" fmla="*/ 227178 h 6858000"/>
              <a:gd name="connsiteX39" fmla="*/ 3142509 w 9263816"/>
              <a:gd name="connsiteY39" fmla="*/ 68854 h 6858000"/>
              <a:gd name="connsiteX40" fmla="*/ 3490978 w 9263816"/>
              <a:gd name="connsiteY40" fmla="*/ 211117 h 6858000"/>
              <a:gd name="connsiteX41" fmla="*/ 3572083 w 9263816"/>
              <a:gd name="connsiteY41" fmla="*/ 404131 h 6858000"/>
              <a:gd name="connsiteX42" fmla="*/ 3236814 w 9263816"/>
              <a:gd name="connsiteY42" fmla="*/ 833688 h 6858000"/>
              <a:gd name="connsiteX43" fmla="*/ 2807245 w 9263816"/>
              <a:gd name="connsiteY43" fmla="*/ 498425 h 6858000"/>
              <a:gd name="connsiteX44" fmla="*/ 3142509 w 9263816"/>
              <a:gd name="connsiteY44" fmla="*/ 68854 h 6858000"/>
              <a:gd name="connsiteX45" fmla="*/ 0 w 9263816"/>
              <a:gd name="connsiteY45" fmla="*/ 0 h 6858000"/>
              <a:gd name="connsiteX46" fmla="*/ 39858 w 9263816"/>
              <a:gd name="connsiteY46" fmla="*/ 0 h 6858000"/>
              <a:gd name="connsiteX47" fmla="*/ 65022 w 9263816"/>
              <a:gd name="connsiteY47" fmla="*/ 5834 h 6858000"/>
              <a:gd name="connsiteX48" fmla="*/ 389258 w 9263816"/>
              <a:gd name="connsiteY48" fmla="*/ 235630 h 6858000"/>
              <a:gd name="connsiteX49" fmla="*/ 485484 w 9263816"/>
              <a:gd name="connsiteY49" fmla="*/ 420070 h 6858000"/>
              <a:gd name="connsiteX50" fmla="*/ 74229 w 9263816"/>
              <a:gd name="connsiteY50" fmla="*/ 1237955 h 6858000"/>
              <a:gd name="connsiteX51" fmla="*/ 0 w 9263816"/>
              <a:gd name="connsiteY51" fmla="*/ 125447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9263816" h="6858000">
                <a:moveTo>
                  <a:pt x="8831314" y="5943878"/>
                </a:moveTo>
                <a:cubicBezTo>
                  <a:pt x="8964281" y="5927490"/>
                  <a:pt x="9096260" y="5981362"/>
                  <a:pt x="9179783" y="6086141"/>
                </a:cubicBezTo>
                <a:cubicBezTo>
                  <a:pt x="9224074" y="6141769"/>
                  <a:pt x="9252211" y="6208560"/>
                  <a:pt x="9260887" y="6279156"/>
                </a:cubicBezTo>
                <a:cubicBezTo>
                  <a:pt x="9286897" y="6490362"/>
                  <a:pt x="9136845" y="6682672"/>
                  <a:pt x="8925621" y="6708712"/>
                </a:cubicBezTo>
                <a:cubicBezTo>
                  <a:pt x="8714398" y="6734766"/>
                  <a:pt x="8522062" y="6584655"/>
                  <a:pt x="8496050" y="6373449"/>
                </a:cubicBezTo>
                <a:cubicBezTo>
                  <a:pt x="8470038" y="6162229"/>
                  <a:pt x="8620090" y="5969920"/>
                  <a:pt x="8831314" y="5943878"/>
                </a:cubicBezTo>
                <a:close/>
                <a:moveTo>
                  <a:pt x="7397485" y="5931706"/>
                </a:moveTo>
                <a:cubicBezTo>
                  <a:pt x="7598431" y="5931157"/>
                  <a:pt x="7792965" y="6024548"/>
                  <a:pt x="7917779" y="6191864"/>
                </a:cubicBezTo>
                <a:cubicBezTo>
                  <a:pt x="7959204" y="6247714"/>
                  <a:pt x="7991530" y="6309792"/>
                  <a:pt x="8013467" y="6375784"/>
                </a:cubicBezTo>
                <a:cubicBezTo>
                  <a:pt x="8055425" y="6502973"/>
                  <a:pt x="8055748" y="6633888"/>
                  <a:pt x="8021879" y="6753751"/>
                </a:cubicBezTo>
                <a:lnTo>
                  <a:pt x="7981316" y="6858000"/>
                </a:lnTo>
                <a:lnTo>
                  <a:pt x="6819486" y="6858000"/>
                </a:lnTo>
                <a:lnTo>
                  <a:pt x="6785199" y="6781101"/>
                </a:lnTo>
                <a:cubicBezTo>
                  <a:pt x="6673307" y="6441922"/>
                  <a:pt x="6857485" y="6076251"/>
                  <a:pt x="7196747" y="5964309"/>
                </a:cubicBezTo>
                <a:cubicBezTo>
                  <a:pt x="7262809" y="5942509"/>
                  <a:pt x="7330503" y="5931889"/>
                  <a:pt x="7397485" y="5931706"/>
                </a:cubicBezTo>
                <a:close/>
                <a:moveTo>
                  <a:pt x="1505570" y="227178"/>
                </a:moveTo>
                <a:cubicBezTo>
                  <a:pt x="1691018" y="218628"/>
                  <a:pt x="1889853" y="275403"/>
                  <a:pt x="2026489" y="392370"/>
                </a:cubicBezTo>
                <a:cubicBezTo>
                  <a:pt x="2369898" y="685965"/>
                  <a:pt x="2078266" y="1147857"/>
                  <a:pt x="2444553" y="1654853"/>
                </a:cubicBezTo>
                <a:cubicBezTo>
                  <a:pt x="2492906" y="1721679"/>
                  <a:pt x="2800482" y="2144546"/>
                  <a:pt x="3183153" y="2116208"/>
                </a:cubicBezTo>
                <a:cubicBezTo>
                  <a:pt x="3673561" y="2080541"/>
                  <a:pt x="3723222" y="1441614"/>
                  <a:pt x="4288384" y="1291908"/>
                </a:cubicBezTo>
                <a:cubicBezTo>
                  <a:pt x="4689065" y="1185875"/>
                  <a:pt x="5207943" y="1366633"/>
                  <a:pt x="5472602" y="1697818"/>
                </a:cubicBezTo>
                <a:cubicBezTo>
                  <a:pt x="5891294" y="2221754"/>
                  <a:pt x="5408012" y="2790179"/>
                  <a:pt x="5844697" y="3444791"/>
                </a:cubicBezTo>
                <a:cubicBezTo>
                  <a:pt x="6149900" y="3902467"/>
                  <a:pt x="6672672" y="4053594"/>
                  <a:pt x="6715674" y="4065208"/>
                </a:cubicBezTo>
                <a:cubicBezTo>
                  <a:pt x="7326423" y="4232519"/>
                  <a:pt x="7677158" y="3817020"/>
                  <a:pt x="8130429" y="4101787"/>
                </a:cubicBezTo>
                <a:cubicBezTo>
                  <a:pt x="8226340" y="4161985"/>
                  <a:pt x="8536372" y="4356819"/>
                  <a:pt x="8624630" y="4686202"/>
                </a:cubicBezTo>
                <a:lnTo>
                  <a:pt x="8623843" y="4685749"/>
                </a:lnTo>
                <a:cubicBezTo>
                  <a:pt x="8636924" y="4734567"/>
                  <a:pt x="8644635" y="4784678"/>
                  <a:pt x="8646859" y="4835156"/>
                </a:cubicBezTo>
                <a:cubicBezTo>
                  <a:pt x="8662596" y="5196604"/>
                  <a:pt x="8398383" y="5562326"/>
                  <a:pt x="8079403" y="5661624"/>
                </a:cubicBezTo>
                <a:cubicBezTo>
                  <a:pt x="7649807" y="5795217"/>
                  <a:pt x="7430996" y="5350293"/>
                  <a:pt x="6833105" y="5397208"/>
                </a:cubicBezTo>
                <a:cubicBezTo>
                  <a:pt x="6519033" y="5421527"/>
                  <a:pt x="6056658" y="5595550"/>
                  <a:pt x="5900832" y="5944462"/>
                </a:cubicBezTo>
                <a:cubicBezTo>
                  <a:pt x="5770548" y="6236600"/>
                  <a:pt x="5916359" y="6515160"/>
                  <a:pt x="6067212" y="6811916"/>
                </a:cubicBezTo>
                <a:lnTo>
                  <a:pt x="6089565" y="6858000"/>
                </a:lnTo>
                <a:lnTo>
                  <a:pt x="0" y="6858000"/>
                </a:lnTo>
                <a:lnTo>
                  <a:pt x="0" y="2181377"/>
                </a:lnTo>
                <a:lnTo>
                  <a:pt x="73069" y="2215839"/>
                </a:lnTo>
                <a:cubicBezTo>
                  <a:pt x="165116" y="2251829"/>
                  <a:pt x="254486" y="2263171"/>
                  <a:pt x="335445" y="2237140"/>
                </a:cubicBezTo>
                <a:cubicBezTo>
                  <a:pt x="594718" y="2153707"/>
                  <a:pt x="688441" y="1733807"/>
                  <a:pt x="752878" y="1445285"/>
                </a:cubicBezTo>
                <a:cubicBezTo>
                  <a:pt x="925059" y="674068"/>
                  <a:pt x="975076" y="456292"/>
                  <a:pt x="1202551" y="314229"/>
                </a:cubicBezTo>
                <a:cubicBezTo>
                  <a:pt x="1287853" y="260956"/>
                  <a:pt x="1394302" y="232308"/>
                  <a:pt x="1505570" y="227178"/>
                </a:cubicBezTo>
                <a:close/>
                <a:moveTo>
                  <a:pt x="3142509" y="68854"/>
                </a:moveTo>
                <a:cubicBezTo>
                  <a:pt x="3275474" y="52467"/>
                  <a:pt x="3407455" y="106339"/>
                  <a:pt x="3490978" y="211117"/>
                </a:cubicBezTo>
                <a:cubicBezTo>
                  <a:pt x="3535271" y="266744"/>
                  <a:pt x="3563404" y="333535"/>
                  <a:pt x="3572083" y="404131"/>
                </a:cubicBezTo>
                <a:cubicBezTo>
                  <a:pt x="3598092" y="615337"/>
                  <a:pt x="3448040" y="807648"/>
                  <a:pt x="3236814" y="833688"/>
                </a:cubicBezTo>
                <a:cubicBezTo>
                  <a:pt x="3025594" y="859741"/>
                  <a:pt x="2833255" y="709631"/>
                  <a:pt x="2807245" y="498425"/>
                </a:cubicBezTo>
                <a:cubicBezTo>
                  <a:pt x="2781232" y="287207"/>
                  <a:pt x="2931283" y="94896"/>
                  <a:pt x="3142509" y="68854"/>
                </a:cubicBezTo>
                <a:close/>
                <a:moveTo>
                  <a:pt x="0" y="0"/>
                </a:moveTo>
                <a:lnTo>
                  <a:pt x="39858" y="0"/>
                </a:lnTo>
                <a:lnTo>
                  <a:pt x="65022" y="5834"/>
                </a:lnTo>
                <a:cubicBezTo>
                  <a:pt x="191545" y="45606"/>
                  <a:pt x="305874" y="124173"/>
                  <a:pt x="389258" y="235630"/>
                </a:cubicBezTo>
                <a:cubicBezTo>
                  <a:pt x="430983" y="291600"/>
                  <a:pt x="463360" y="353876"/>
                  <a:pt x="485484" y="420070"/>
                </a:cubicBezTo>
                <a:cubicBezTo>
                  <a:pt x="597711" y="759508"/>
                  <a:pt x="413661" y="1125662"/>
                  <a:pt x="74229" y="1237955"/>
                </a:cubicBezTo>
                <a:lnTo>
                  <a:pt x="0" y="1254477"/>
                </a:lnTo>
                <a:close/>
              </a:path>
            </a:pathLst>
          </a:custGeom>
          <a:solidFill>
            <a:schemeClr val="bg1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760C036-BBCE-4F9E-AD56-DD36D4407B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57784"/>
            <a:ext cx="109728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A5D7EC-1E6A-473F-B5A4-18CDFB6CF9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2106204"/>
            <a:ext cx="10972800" cy="403653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9981C7-34D5-49A4-949D-715FD4BD8F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en-US" sz="800" kern="1200" cap="all" spc="200" smtClean="0">
                <a:solidFill>
                  <a:schemeClr val="tx1"/>
                </a:solidFill>
                <a:latin typeface="+mn-lt"/>
                <a:ea typeface="+mn-ea"/>
                <a:cs typeface="Segoe UI Semilight" panose="020B0402040204020203" pitchFamily="34" charset="0"/>
              </a:defRPr>
            </a:lvl1pPr>
          </a:lstStyle>
          <a:p>
            <a:fld id="{F481A142-DA77-4A5F-AD1F-14E6C18F0F5F}" type="datetime1">
              <a:rPr lang="en-US" smtClean="0"/>
              <a:t>3/8/2024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85CE6E-733D-4C60-B40B-C7C10CB5AF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800" kern="1200" cap="all" spc="200" dirty="0">
                <a:solidFill>
                  <a:schemeClr val="tx1"/>
                </a:solidFill>
                <a:latin typeface="+mn-lt"/>
                <a:ea typeface="+mn-ea"/>
                <a:cs typeface="Segoe UI Semilight" panose="020B04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D80D8B-7909-4114-8EBA-C3086DC62B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34600" y="6356350"/>
            <a:ext cx="1447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en-US" sz="800" kern="1200" cap="all" spc="200" smtClean="0">
                <a:solidFill>
                  <a:schemeClr val="tx1"/>
                </a:solidFill>
                <a:latin typeface="+mn-lt"/>
                <a:ea typeface="+mn-ea"/>
                <a:cs typeface="Segoe UI Semilight" panose="020B0402040204020203" pitchFamily="34" charset="0"/>
              </a:defRPr>
            </a:lvl1pPr>
          </a:lstStyle>
          <a:p>
            <a:fld id="{1F646F3F-274D-499B-ABBE-824EB4ABDC3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61307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66" r:id="rId6"/>
    <p:sldLayoutId id="2147483662" r:id="rId7"/>
    <p:sldLayoutId id="2147483663" r:id="rId8"/>
    <p:sldLayoutId id="2147483664" r:id="rId9"/>
    <p:sldLayoutId id="2147483665" r:id="rId10"/>
    <p:sldLayoutId id="2147483667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1000"/>
        </a:spcBef>
        <a:buClr>
          <a:schemeClr val="accent5"/>
        </a:buClr>
        <a:buFont typeface="Avenir Next LT Pro" panose="020B05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10000"/>
        </a:lnSpc>
        <a:spcBef>
          <a:spcPts val="500"/>
        </a:spcBef>
        <a:buClr>
          <a:schemeClr val="accent5"/>
        </a:buClr>
        <a:buFont typeface="Avenir Next LT Pro" panose="020B05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10000"/>
        </a:lnSpc>
        <a:spcBef>
          <a:spcPts val="500"/>
        </a:spcBef>
        <a:buClr>
          <a:schemeClr val="accent5"/>
        </a:buClr>
        <a:buFont typeface="Avenir Next LT Pro" panose="020B05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110000"/>
        </a:lnSpc>
        <a:spcBef>
          <a:spcPts val="500"/>
        </a:spcBef>
        <a:buClr>
          <a:schemeClr val="accent5"/>
        </a:buClr>
        <a:buFont typeface="Avenir Next LT Pro" panose="020B05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10000"/>
        </a:lnSpc>
        <a:spcBef>
          <a:spcPts val="500"/>
        </a:spcBef>
        <a:buClr>
          <a:schemeClr val="accent5"/>
        </a:buClr>
        <a:buFont typeface="Avenir Next LT Pro" panose="020B05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.png"/><Relationship Id="rId11" Type="http://schemas.openxmlformats.org/officeDocument/2006/relationships/image" Target="../media/image11.svg"/><Relationship Id="rId5" Type="http://schemas.openxmlformats.org/officeDocument/2006/relationships/image" Target="../media/image5.sv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hyperlink" Target="https://creativecommons.org/licenses/by/3.0/" TargetMode="External"/><Relationship Id="rId3" Type="http://schemas.openxmlformats.org/officeDocument/2006/relationships/image" Target="../media/image12.png"/><Relationship Id="rId7" Type="http://schemas.openxmlformats.org/officeDocument/2006/relationships/hyperlink" Target="https://www.flickr.com/photos/juggernautco/6063337443" TargetMode="External"/><Relationship Id="rId2" Type="http://schemas.openxmlformats.org/officeDocument/2006/relationships/hyperlink" Target="https://www.gov.uk/government/publications/england-rare-diseases-action-plan-2024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jpg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svg"/><Relationship Id="rId7" Type="http://schemas.openxmlformats.org/officeDocument/2006/relationships/image" Target="../media/image9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8.png"/><Relationship Id="rId5" Type="http://schemas.openxmlformats.org/officeDocument/2006/relationships/image" Target="../media/image7.svg"/><Relationship Id="rId4" Type="http://schemas.openxmlformats.org/officeDocument/2006/relationships/image" Target="../media/image6.png"/><Relationship Id="rId9" Type="http://schemas.openxmlformats.org/officeDocument/2006/relationships/image" Target="../media/image11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svg"/><Relationship Id="rId7" Type="http://schemas.openxmlformats.org/officeDocument/2006/relationships/image" Target="../media/image9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8.png"/><Relationship Id="rId5" Type="http://schemas.openxmlformats.org/officeDocument/2006/relationships/image" Target="../media/image7.svg"/><Relationship Id="rId4" Type="http://schemas.openxmlformats.org/officeDocument/2006/relationships/image" Target="../media/image6.png"/><Relationship Id="rId9" Type="http://schemas.openxmlformats.org/officeDocument/2006/relationships/image" Target="../media/image11.sv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6E15305-164C-44CD-9E0F-420C2DC1B3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2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49B6340-9D54-4548-B87C-24BA7EA53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rgbClr val="AEAEAE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 descr="Viruses suspended on mid-air">
            <a:extLst>
              <a:ext uri="{FF2B5EF4-FFF2-40B4-BE49-F238E27FC236}">
                <a16:creationId xmlns:a16="http://schemas.microsoft.com/office/drawing/2014/main" id="{9A2D8DBC-C7D0-AF74-09FE-3521544C858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588" r="6304" b="2"/>
          <a:stretch/>
        </p:blipFill>
        <p:spPr>
          <a:xfrm>
            <a:off x="-50042" y="-39158"/>
            <a:ext cx="7918858" cy="6897158"/>
          </a:xfrm>
          <a:prstGeom prst="rect">
            <a:avLst/>
          </a:prstGeom>
        </p:spPr>
      </p:pic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F1D5403D-09EC-41DB-B916-A09C0E5AEC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599031" y="-39157"/>
            <a:ext cx="5592970" cy="6897158"/>
          </a:xfrm>
          <a:custGeom>
            <a:avLst/>
            <a:gdLst>
              <a:gd name="connsiteX0" fmla="*/ 4912746 w 5592970"/>
              <a:gd name="connsiteY0" fmla="*/ 2355321 h 6897159"/>
              <a:gd name="connsiteX1" fmla="*/ 4714738 w 5592970"/>
              <a:gd name="connsiteY1" fmla="*/ 2553329 h 6897159"/>
              <a:gd name="connsiteX2" fmla="*/ 4912746 w 5592970"/>
              <a:gd name="connsiteY2" fmla="*/ 2751337 h 6897159"/>
              <a:gd name="connsiteX3" fmla="*/ 5110754 w 5592970"/>
              <a:gd name="connsiteY3" fmla="*/ 2553329 h 6897159"/>
              <a:gd name="connsiteX4" fmla="*/ 4912746 w 5592970"/>
              <a:gd name="connsiteY4" fmla="*/ 2355321 h 6897159"/>
              <a:gd name="connsiteX5" fmla="*/ 4769785 w 5592970"/>
              <a:gd name="connsiteY5" fmla="*/ 1301525 h 6897159"/>
              <a:gd name="connsiteX6" fmla="*/ 4358192 w 5592970"/>
              <a:gd name="connsiteY6" fmla="*/ 1713118 h 6897159"/>
              <a:gd name="connsiteX7" fmla="*/ 4769785 w 5592970"/>
              <a:gd name="connsiteY7" fmla="*/ 2124711 h 6897159"/>
              <a:gd name="connsiteX8" fmla="*/ 5181378 w 5592970"/>
              <a:gd name="connsiteY8" fmla="*/ 1713118 h 6897159"/>
              <a:gd name="connsiteX9" fmla="*/ 4769785 w 5592970"/>
              <a:gd name="connsiteY9" fmla="*/ 1301525 h 6897159"/>
              <a:gd name="connsiteX10" fmla="*/ 1485712 w 5592970"/>
              <a:gd name="connsiteY10" fmla="*/ 0 h 6897159"/>
              <a:gd name="connsiteX11" fmla="*/ 1911850 w 5592970"/>
              <a:gd name="connsiteY11" fmla="*/ 0 h 6897159"/>
              <a:gd name="connsiteX12" fmla="*/ 4693359 w 5592970"/>
              <a:gd name="connsiteY12" fmla="*/ 0 h 6897159"/>
              <a:gd name="connsiteX13" fmla="*/ 4687196 w 5592970"/>
              <a:gd name="connsiteY13" fmla="*/ 186052 h 6897159"/>
              <a:gd name="connsiteX14" fmla="*/ 4689492 w 5592970"/>
              <a:gd name="connsiteY14" fmla="*/ 422393 h 6897159"/>
              <a:gd name="connsiteX15" fmla="*/ 5029277 w 5592970"/>
              <a:gd name="connsiteY15" fmla="*/ 1074198 h 6897159"/>
              <a:gd name="connsiteX16" fmla="*/ 5368989 w 5592970"/>
              <a:gd name="connsiteY16" fmla="*/ 2604190 h 6897159"/>
              <a:gd name="connsiteX17" fmla="*/ 5030698 w 5592970"/>
              <a:gd name="connsiteY17" fmla="*/ 3182337 h 6897159"/>
              <a:gd name="connsiteX18" fmla="*/ 4910556 w 5592970"/>
              <a:gd name="connsiteY18" fmla="*/ 4667756 h 6897159"/>
              <a:gd name="connsiteX19" fmla="*/ 5374561 w 5592970"/>
              <a:gd name="connsiteY19" fmla="*/ 5703238 h 6897159"/>
              <a:gd name="connsiteX20" fmla="*/ 5591170 w 5592970"/>
              <a:gd name="connsiteY20" fmla="*/ 6745970 h 6897159"/>
              <a:gd name="connsiteX21" fmla="*/ 5592970 w 5592970"/>
              <a:gd name="connsiteY21" fmla="*/ 6897158 h 6897159"/>
              <a:gd name="connsiteX22" fmla="*/ 2734191 w 5592970"/>
              <a:gd name="connsiteY22" fmla="*/ 6897158 h 6897159"/>
              <a:gd name="connsiteX23" fmla="*/ 2734191 w 5592970"/>
              <a:gd name="connsiteY23" fmla="*/ 6897159 h 6897159"/>
              <a:gd name="connsiteX24" fmla="*/ 0 w 5592970"/>
              <a:gd name="connsiteY24" fmla="*/ 6897159 h 6897159"/>
              <a:gd name="connsiteX25" fmla="*/ 0 w 5592970"/>
              <a:gd name="connsiteY25" fmla="*/ 1 h 6897159"/>
              <a:gd name="connsiteX26" fmla="*/ 1485712 w 5592970"/>
              <a:gd name="connsiteY26" fmla="*/ 1 h 68971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5592970" h="6897159">
                <a:moveTo>
                  <a:pt x="4912746" y="2355321"/>
                </a:moveTo>
                <a:cubicBezTo>
                  <a:pt x="4803389" y="2355321"/>
                  <a:pt x="4714738" y="2443972"/>
                  <a:pt x="4714738" y="2553329"/>
                </a:cubicBezTo>
                <a:cubicBezTo>
                  <a:pt x="4714738" y="2662686"/>
                  <a:pt x="4803389" y="2751337"/>
                  <a:pt x="4912746" y="2751337"/>
                </a:cubicBezTo>
                <a:cubicBezTo>
                  <a:pt x="5022103" y="2751337"/>
                  <a:pt x="5110754" y="2662686"/>
                  <a:pt x="5110754" y="2553329"/>
                </a:cubicBezTo>
                <a:cubicBezTo>
                  <a:pt x="5110754" y="2443972"/>
                  <a:pt x="5022103" y="2355321"/>
                  <a:pt x="4912746" y="2355321"/>
                </a:cubicBezTo>
                <a:close/>
                <a:moveTo>
                  <a:pt x="4769785" y="1301525"/>
                </a:moveTo>
                <a:cubicBezTo>
                  <a:pt x="4542468" y="1301525"/>
                  <a:pt x="4358192" y="1485801"/>
                  <a:pt x="4358192" y="1713118"/>
                </a:cubicBezTo>
                <a:cubicBezTo>
                  <a:pt x="4358192" y="1940435"/>
                  <a:pt x="4542468" y="2124711"/>
                  <a:pt x="4769785" y="2124711"/>
                </a:cubicBezTo>
                <a:cubicBezTo>
                  <a:pt x="4997102" y="2124711"/>
                  <a:pt x="5181378" y="1940435"/>
                  <a:pt x="5181378" y="1713118"/>
                </a:cubicBezTo>
                <a:cubicBezTo>
                  <a:pt x="5181378" y="1485801"/>
                  <a:pt x="4997102" y="1301525"/>
                  <a:pt x="4769785" y="1301525"/>
                </a:cubicBezTo>
                <a:close/>
                <a:moveTo>
                  <a:pt x="1485712" y="0"/>
                </a:moveTo>
                <a:lnTo>
                  <a:pt x="1911850" y="0"/>
                </a:lnTo>
                <a:lnTo>
                  <a:pt x="4693359" y="0"/>
                </a:lnTo>
                <a:lnTo>
                  <a:pt x="4687196" y="186052"/>
                </a:lnTo>
                <a:cubicBezTo>
                  <a:pt x="4686166" y="265025"/>
                  <a:pt x="4686829" y="343862"/>
                  <a:pt x="4689492" y="422393"/>
                </a:cubicBezTo>
                <a:cubicBezTo>
                  <a:pt x="4699496" y="713539"/>
                  <a:pt x="4872938" y="896626"/>
                  <a:pt x="5029277" y="1074198"/>
                </a:cubicBezTo>
                <a:cubicBezTo>
                  <a:pt x="5418992" y="1516672"/>
                  <a:pt x="5551614" y="2043761"/>
                  <a:pt x="5368989" y="2604190"/>
                </a:cubicBezTo>
                <a:cubicBezTo>
                  <a:pt x="5298163" y="2821542"/>
                  <a:pt x="5160452" y="3010355"/>
                  <a:pt x="5030698" y="3182337"/>
                </a:cubicBezTo>
                <a:cubicBezTo>
                  <a:pt x="4682698" y="3643429"/>
                  <a:pt x="4696957" y="4178177"/>
                  <a:pt x="4910556" y="4667756"/>
                </a:cubicBezTo>
                <a:cubicBezTo>
                  <a:pt x="5062728" y="5015306"/>
                  <a:pt x="5245193" y="5341884"/>
                  <a:pt x="5374561" y="5703238"/>
                </a:cubicBezTo>
                <a:cubicBezTo>
                  <a:pt x="5500512" y="6053410"/>
                  <a:pt x="5575240" y="6402760"/>
                  <a:pt x="5591170" y="6745970"/>
                </a:cubicBezTo>
                <a:lnTo>
                  <a:pt x="5592970" y="6897158"/>
                </a:lnTo>
                <a:lnTo>
                  <a:pt x="2734191" y="6897158"/>
                </a:lnTo>
                <a:lnTo>
                  <a:pt x="2734191" y="6897159"/>
                </a:lnTo>
                <a:lnTo>
                  <a:pt x="0" y="6897159"/>
                </a:lnTo>
                <a:lnTo>
                  <a:pt x="0" y="1"/>
                </a:lnTo>
                <a:lnTo>
                  <a:pt x="1485712" y="1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266C615-56F3-FDB7-DE77-625119BA68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959478" y="1122363"/>
            <a:ext cx="3622922" cy="2387600"/>
          </a:xfrm>
        </p:spPr>
        <p:txBody>
          <a:bodyPr>
            <a:normAutofit/>
          </a:bodyPr>
          <a:lstStyle/>
          <a:p>
            <a:pPr algn="r">
              <a:lnSpc>
                <a:spcPct val="90000"/>
              </a:lnSpc>
            </a:pPr>
            <a:r>
              <a:rPr lang="en-GB" dirty="0"/>
              <a:t>From germs… to people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00840B8-78CF-A3E7-9299-70B71D145A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59478" y="3602038"/>
            <a:ext cx="3622922" cy="1655762"/>
          </a:xfrm>
        </p:spPr>
        <p:txBody>
          <a:bodyPr>
            <a:normAutofit/>
          </a:bodyPr>
          <a:lstStyle/>
          <a:p>
            <a:pPr algn="r"/>
            <a:r>
              <a:rPr lang="en-GB" i="1" dirty="0"/>
              <a:t>How we can use statistics to help us detecting a disease</a:t>
            </a:r>
          </a:p>
        </p:txBody>
      </p:sp>
    </p:spTree>
    <p:extLst>
      <p:ext uri="{BB962C8B-B14F-4D97-AF65-F5344CB8AC3E}">
        <p14:creationId xmlns:p14="http://schemas.microsoft.com/office/powerpoint/2010/main" val="20553030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0A62CA-92F6-BBBD-D9A7-7C049B2E3A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do we know so far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E3358D-4C6F-F38A-89AD-183851D70D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ClrTx/>
              <a:buFont typeface="Wingdings" panose="05000000000000000000" pitchFamily="2" charset="2"/>
              <a:buChar char="v"/>
            </a:pPr>
            <a:r>
              <a:rPr lang="en-GB" dirty="0"/>
              <a:t>We know how germs spread inside the body and how fast they spread between hosts / people.</a:t>
            </a:r>
          </a:p>
          <a:p>
            <a:pPr>
              <a:buClrTx/>
            </a:pPr>
            <a:endParaRPr lang="en-GB" dirty="0"/>
          </a:p>
          <a:p>
            <a:pPr marL="342900" indent="-342900">
              <a:buClrTx/>
              <a:buFont typeface="Wingdings" panose="05000000000000000000" pitchFamily="2" charset="2"/>
              <a:buChar char="v"/>
            </a:pPr>
            <a:r>
              <a:rPr lang="en-GB" dirty="0"/>
              <a:t>However, do we check if everyone in the population has a disease?</a:t>
            </a:r>
          </a:p>
          <a:p>
            <a:pPr marL="342900" indent="-342900">
              <a:buClrTx/>
              <a:buFont typeface="Wingdings" panose="05000000000000000000" pitchFamily="2" charset="2"/>
              <a:buChar char="v"/>
            </a:pPr>
            <a:r>
              <a:rPr lang="en-GB" dirty="0"/>
              <a:t>We are able to count the number of colds in a school, or city.</a:t>
            </a:r>
          </a:p>
          <a:p>
            <a:pPr marL="342900" indent="-342900">
              <a:buClrTx/>
              <a:buFont typeface="Wingdings" panose="05000000000000000000" pitchFamily="2" charset="2"/>
              <a:buChar char="v"/>
            </a:pPr>
            <a:r>
              <a:rPr lang="en-GB" dirty="0"/>
              <a:t>But how to count colds over all UK?</a:t>
            </a:r>
          </a:p>
          <a:p>
            <a:pPr marL="342900" indent="-342900">
              <a:buClrTx/>
              <a:buFont typeface="Wingdings" panose="05000000000000000000" pitchFamily="2" charset="2"/>
              <a:buChar char="v"/>
            </a:pPr>
            <a:r>
              <a:rPr lang="en-GB" dirty="0"/>
              <a:t>And which schools or city should we “use” to count the colds? </a:t>
            </a:r>
          </a:p>
          <a:p>
            <a:pPr marL="342900" indent="-342900">
              <a:buClrTx/>
              <a:buFont typeface="Wingdings" panose="05000000000000000000" pitchFamily="2" charset="2"/>
              <a:buChar char="v"/>
            </a:pPr>
            <a:r>
              <a:rPr lang="en-GB" dirty="0"/>
              <a:t>What if the number of colds changes by school or city: then what is the correct answer?</a:t>
            </a:r>
          </a:p>
        </p:txBody>
      </p:sp>
    </p:spTree>
    <p:extLst>
      <p:ext uri="{BB962C8B-B14F-4D97-AF65-F5344CB8AC3E}">
        <p14:creationId xmlns:p14="http://schemas.microsoft.com/office/powerpoint/2010/main" val="26519538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3B0410-8E9E-66EB-B27E-2112AA8733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Population versus sample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9C15BE80-4983-80D6-B470-DFE557BD1C34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GB" sz="2400" dirty="0"/>
                  <a:t>A </a:t>
                </a:r>
                <a:r>
                  <a:rPr lang="en-GB" sz="2400" b="1" dirty="0">
                    <a:solidFill>
                      <a:srgbClr val="C00000"/>
                    </a:solidFill>
                  </a:rPr>
                  <a:t>population</a:t>
                </a:r>
                <a:r>
                  <a:rPr lang="en-GB" sz="2400" dirty="0"/>
                  <a:t> is the entire group that we want to draw conclusions about.</a:t>
                </a:r>
              </a:p>
              <a:p>
                <a:endParaRPr lang="en-GB" sz="2400" dirty="0"/>
              </a:p>
              <a:p>
                <a:r>
                  <a:rPr lang="en-GB" sz="2400" dirty="0"/>
                  <a:t>Size of the population: </a:t>
                </a:r>
                <a14:m>
                  <m:oMath xmlns:m="http://schemas.openxmlformats.org/officeDocument/2006/math">
                    <m:r>
                      <a:rPr lang="en-GB" sz="2400" i="1" dirty="0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endParaRPr lang="en-GB" sz="2400" dirty="0"/>
              </a:p>
              <a:p>
                <a:endParaRPr lang="en-GB" sz="2400" dirty="0"/>
              </a:p>
              <a:p>
                <a:endParaRPr lang="en-GB" sz="2400" dirty="0"/>
              </a:p>
            </p:txBody>
          </p:sp>
        </mc:Choice>
        <mc:Fallback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9C15BE80-4983-80D6-B470-DFE557BD1C3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1689" t="-744" r="-135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8D4E4E9E-1BF1-7BAD-FE28-2426A51DC43F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GB" sz="2400" dirty="0"/>
                  <a:t>A (</a:t>
                </a:r>
                <a:r>
                  <a:rPr lang="en-GB" sz="2400" b="1" dirty="0">
                    <a:solidFill>
                      <a:srgbClr val="C00000"/>
                    </a:solidFill>
                  </a:rPr>
                  <a:t>random</a:t>
                </a:r>
                <a:r>
                  <a:rPr lang="en-GB" sz="2400" dirty="0"/>
                  <a:t>) </a:t>
                </a:r>
                <a:r>
                  <a:rPr lang="en-GB" sz="2400" b="1" dirty="0">
                    <a:solidFill>
                      <a:srgbClr val="C00000"/>
                    </a:solidFill>
                  </a:rPr>
                  <a:t>sample</a:t>
                </a:r>
                <a:r>
                  <a:rPr lang="en-GB" sz="2400" dirty="0"/>
                  <a:t> is the specific group that you will collect data from. </a:t>
                </a:r>
              </a:p>
              <a:p>
                <a:endParaRPr lang="en-GB" sz="2400" dirty="0"/>
              </a:p>
              <a:p>
                <a:r>
                  <a:rPr lang="en-GB" sz="2400" dirty="0"/>
                  <a:t>Size of the sample: </a:t>
                </a:r>
                <a14:m>
                  <m:oMath xmlns:m="http://schemas.openxmlformats.org/officeDocument/2006/math">
                    <m:r>
                      <a:rPr lang="en-GB" sz="240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GB" sz="2400" i="1" dirty="0" smtClean="0">
                        <a:latin typeface="Cambria Math" panose="02040503050406030204" pitchFamily="18" charset="0"/>
                      </a:rPr>
                      <m:t> &lt; </m:t>
                    </m:r>
                    <m:r>
                      <a:rPr lang="en-GB" sz="2400" i="1" dirty="0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endParaRPr lang="en-GB" sz="2400" dirty="0"/>
              </a:p>
            </p:txBody>
          </p:sp>
        </mc:Choice>
        <mc:Fallback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8D4E4E9E-1BF1-7BAD-FE28-2426A51DC43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3"/>
                <a:stretch>
                  <a:fillRect l="-1804" t="-74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Graphic 6" descr="User with solid fill">
            <a:extLst>
              <a:ext uri="{FF2B5EF4-FFF2-40B4-BE49-F238E27FC236}">
                <a16:creationId xmlns:a16="http://schemas.microsoft.com/office/drawing/2014/main" id="{70A21E16-12A1-CCAF-517C-8AACB6F5C6C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56985" y="4188919"/>
            <a:ext cx="500743" cy="500743"/>
          </a:xfrm>
          <a:prstGeom prst="rect">
            <a:avLst/>
          </a:prstGeom>
        </p:spPr>
      </p:pic>
      <p:pic>
        <p:nvPicPr>
          <p:cNvPr id="8" name="Graphic 7" descr="User with solid fill">
            <a:extLst>
              <a:ext uri="{FF2B5EF4-FFF2-40B4-BE49-F238E27FC236}">
                <a16:creationId xmlns:a16="http://schemas.microsoft.com/office/drawing/2014/main" id="{C7C1E7CB-621C-C76A-FEAD-73A327E6C57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24200" y="4188919"/>
            <a:ext cx="500743" cy="500743"/>
          </a:xfrm>
          <a:prstGeom prst="rect">
            <a:avLst/>
          </a:prstGeom>
        </p:spPr>
      </p:pic>
      <p:pic>
        <p:nvPicPr>
          <p:cNvPr id="9" name="Graphic 8" descr="User with solid fill">
            <a:extLst>
              <a:ext uri="{FF2B5EF4-FFF2-40B4-BE49-F238E27FC236}">
                <a16:creationId xmlns:a16="http://schemas.microsoft.com/office/drawing/2014/main" id="{21853ED0-D01F-3E85-1914-1344B7B6E67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822568" y="4188918"/>
            <a:ext cx="500743" cy="500743"/>
          </a:xfrm>
          <a:prstGeom prst="rect">
            <a:avLst/>
          </a:prstGeom>
        </p:spPr>
      </p:pic>
      <p:pic>
        <p:nvPicPr>
          <p:cNvPr id="10" name="Graphic 9" descr="User with solid fill">
            <a:extLst>
              <a:ext uri="{FF2B5EF4-FFF2-40B4-BE49-F238E27FC236}">
                <a16:creationId xmlns:a16="http://schemas.microsoft.com/office/drawing/2014/main" id="{90159ABE-C722-4CBA-896C-5B569898B3E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489780" y="4188918"/>
            <a:ext cx="500743" cy="500743"/>
          </a:xfrm>
          <a:prstGeom prst="rect">
            <a:avLst/>
          </a:prstGeom>
        </p:spPr>
      </p:pic>
      <p:pic>
        <p:nvPicPr>
          <p:cNvPr id="11" name="Graphic 10" descr="User with solid fill">
            <a:extLst>
              <a:ext uri="{FF2B5EF4-FFF2-40B4-BE49-F238E27FC236}">
                <a16:creationId xmlns:a16="http://schemas.microsoft.com/office/drawing/2014/main" id="{2B67D241-A581-F9E7-30B5-697E22F1300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492816" y="4188917"/>
            <a:ext cx="500743" cy="500743"/>
          </a:xfrm>
          <a:prstGeom prst="rect">
            <a:avLst/>
          </a:prstGeom>
        </p:spPr>
      </p:pic>
      <p:pic>
        <p:nvPicPr>
          <p:cNvPr id="12" name="Graphic 11" descr="User with solid fill">
            <a:extLst>
              <a:ext uri="{FF2B5EF4-FFF2-40B4-BE49-F238E27FC236}">
                <a16:creationId xmlns:a16="http://schemas.microsoft.com/office/drawing/2014/main" id="{023A2D1B-CB4C-C5FF-01DD-65ABC85B1926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158476" y="4188917"/>
            <a:ext cx="500743" cy="500743"/>
          </a:xfrm>
          <a:prstGeom prst="rect">
            <a:avLst/>
          </a:prstGeom>
        </p:spPr>
      </p:pic>
      <p:pic>
        <p:nvPicPr>
          <p:cNvPr id="13" name="Graphic 12" descr="User with solid fill">
            <a:extLst>
              <a:ext uri="{FF2B5EF4-FFF2-40B4-BE49-F238E27FC236}">
                <a16:creationId xmlns:a16="http://schemas.microsoft.com/office/drawing/2014/main" id="{695085A9-B63E-3D83-991C-89885B4017D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827159" y="4188917"/>
            <a:ext cx="500743" cy="500743"/>
          </a:xfrm>
          <a:prstGeom prst="rect">
            <a:avLst/>
          </a:prstGeom>
        </p:spPr>
      </p:pic>
      <p:pic>
        <p:nvPicPr>
          <p:cNvPr id="3" name="Graphic 2" descr="User with solid fill">
            <a:extLst>
              <a:ext uri="{FF2B5EF4-FFF2-40B4-BE49-F238E27FC236}">
                <a16:creationId xmlns:a16="http://schemas.microsoft.com/office/drawing/2014/main" id="{2D0F8508-6CA5-3D24-E575-DA793187A85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166172" y="4192027"/>
            <a:ext cx="500743" cy="500743"/>
          </a:xfrm>
          <a:prstGeom prst="rect">
            <a:avLst/>
          </a:prstGeom>
        </p:spPr>
      </p:pic>
      <p:pic>
        <p:nvPicPr>
          <p:cNvPr id="6" name="Graphic 5" descr="User with solid fill">
            <a:extLst>
              <a:ext uri="{FF2B5EF4-FFF2-40B4-BE49-F238E27FC236}">
                <a16:creationId xmlns:a16="http://schemas.microsoft.com/office/drawing/2014/main" id="{EBF9460D-F0DD-1CF1-D7BF-34692BD5915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497415" y="4195138"/>
            <a:ext cx="500743" cy="500743"/>
          </a:xfrm>
          <a:prstGeom prst="rect">
            <a:avLst/>
          </a:prstGeom>
        </p:spPr>
      </p:pic>
      <p:pic>
        <p:nvPicPr>
          <p:cNvPr id="14" name="Graphic 13" descr="User with solid fill">
            <a:extLst>
              <a:ext uri="{FF2B5EF4-FFF2-40B4-BE49-F238E27FC236}">
                <a16:creationId xmlns:a16="http://schemas.microsoft.com/office/drawing/2014/main" id="{321D53C9-7390-33C6-EDC3-66DF401D507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822427" y="4195138"/>
            <a:ext cx="500743" cy="500743"/>
          </a:xfrm>
          <a:prstGeom prst="rect">
            <a:avLst/>
          </a:prstGeom>
        </p:spPr>
      </p:pic>
      <p:pic>
        <p:nvPicPr>
          <p:cNvPr id="15" name="Graphic 14" descr="User with solid fill">
            <a:extLst>
              <a:ext uri="{FF2B5EF4-FFF2-40B4-BE49-F238E27FC236}">
                <a16:creationId xmlns:a16="http://schemas.microsoft.com/office/drawing/2014/main" id="{5A86A12E-25D2-E5BD-C6DC-6ECEC3596DC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152109" y="4188917"/>
            <a:ext cx="500743" cy="500743"/>
          </a:xfrm>
          <a:prstGeom prst="rect">
            <a:avLst/>
          </a:prstGeom>
        </p:spPr>
      </p:pic>
      <p:pic>
        <p:nvPicPr>
          <p:cNvPr id="16" name="Graphic 15" descr="User with solid fill">
            <a:extLst>
              <a:ext uri="{FF2B5EF4-FFF2-40B4-BE49-F238E27FC236}">
                <a16:creationId xmlns:a16="http://schemas.microsoft.com/office/drawing/2014/main" id="{95D87CC9-D8A4-5A7F-AA2F-607F982AAD8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483352" y="4188917"/>
            <a:ext cx="500743" cy="500743"/>
          </a:xfrm>
          <a:prstGeom prst="rect">
            <a:avLst/>
          </a:prstGeom>
        </p:spPr>
      </p:pic>
      <p:pic>
        <p:nvPicPr>
          <p:cNvPr id="17" name="Graphic 16" descr="User with solid fill">
            <a:extLst>
              <a:ext uri="{FF2B5EF4-FFF2-40B4-BE49-F238E27FC236}">
                <a16:creationId xmlns:a16="http://schemas.microsoft.com/office/drawing/2014/main" id="{BBB1B353-D50D-E8C3-3989-DAA8B9264F9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814595" y="4192028"/>
            <a:ext cx="500743" cy="500743"/>
          </a:xfrm>
          <a:prstGeom prst="rect">
            <a:avLst/>
          </a:prstGeom>
        </p:spPr>
      </p:pic>
      <p:pic>
        <p:nvPicPr>
          <p:cNvPr id="18" name="Graphic 17" descr="User with solid fill">
            <a:extLst>
              <a:ext uri="{FF2B5EF4-FFF2-40B4-BE49-F238E27FC236}">
                <a16:creationId xmlns:a16="http://schemas.microsoft.com/office/drawing/2014/main" id="{8DE9BA7D-DC19-86D4-E36B-EB25E197BD1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148938" y="4192028"/>
            <a:ext cx="500743" cy="500743"/>
          </a:xfrm>
          <a:prstGeom prst="rect">
            <a:avLst/>
          </a:prstGeom>
        </p:spPr>
      </p:pic>
      <p:pic>
        <p:nvPicPr>
          <p:cNvPr id="22" name="Graphic 21" descr="User with solid fill">
            <a:extLst>
              <a:ext uri="{FF2B5EF4-FFF2-40B4-BE49-F238E27FC236}">
                <a16:creationId xmlns:a16="http://schemas.microsoft.com/office/drawing/2014/main" id="{2A99F5CD-6DD2-572B-F248-F4C8D532608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56985" y="4676694"/>
            <a:ext cx="500743" cy="500743"/>
          </a:xfrm>
          <a:prstGeom prst="rect">
            <a:avLst/>
          </a:prstGeom>
        </p:spPr>
      </p:pic>
      <p:pic>
        <p:nvPicPr>
          <p:cNvPr id="23" name="Graphic 22" descr="User with solid fill">
            <a:extLst>
              <a:ext uri="{FF2B5EF4-FFF2-40B4-BE49-F238E27FC236}">
                <a16:creationId xmlns:a16="http://schemas.microsoft.com/office/drawing/2014/main" id="{66070673-A61B-8138-B98D-FC7C620AA37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24200" y="4676694"/>
            <a:ext cx="500743" cy="500743"/>
          </a:xfrm>
          <a:prstGeom prst="rect">
            <a:avLst/>
          </a:prstGeom>
        </p:spPr>
      </p:pic>
      <p:pic>
        <p:nvPicPr>
          <p:cNvPr id="24" name="Graphic 23" descr="User with solid fill">
            <a:extLst>
              <a:ext uri="{FF2B5EF4-FFF2-40B4-BE49-F238E27FC236}">
                <a16:creationId xmlns:a16="http://schemas.microsoft.com/office/drawing/2014/main" id="{6F6FD4C2-FFC0-4E14-7F2E-AF18132C87B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822568" y="4676693"/>
            <a:ext cx="500743" cy="500743"/>
          </a:xfrm>
          <a:prstGeom prst="rect">
            <a:avLst/>
          </a:prstGeom>
        </p:spPr>
      </p:pic>
      <p:pic>
        <p:nvPicPr>
          <p:cNvPr id="25" name="Graphic 24" descr="User with solid fill">
            <a:extLst>
              <a:ext uri="{FF2B5EF4-FFF2-40B4-BE49-F238E27FC236}">
                <a16:creationId xmlns:a16="http://schemas.microsoft.com/office/drawing/2014/main" id="{DD18B64E-937C-CA63-613D-1CE425F70D6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489780" y="4676693"/>
            <a:ext cx="500743" cy="500743"/>
          </a:xfrm>
          <a:prstGeom prst="rect">
            <a:avLst/>
          </a:prstGeom>
        </p:spPr>
      </p:pic>
      <p:pic>
        <p:nvPicPr>
          <p:cNvPr id="26" name="Graphic 25" descr="User with solid fill">
            <a:extLst>
              <a:ext uri="{FF2B5EF4-FFF2-40B4-BE49-F238E27FC236}">
                <a16:creationId xmlns:a16="http://schemas.microsoft.com/office/drawing/2014/main" id="{8AF41DBA-8C83-FF3E-CA2F-C96B8174F96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492816" y="4676692"/>
            <a:ext cx="500743" cy="500743"/>
          </a:xfrm>
          <a:prstGeom prst="rect">
            <a:avLst/>
          </a:prstGeom>
        </p:spPr>
      </p:pic>
      <p:pic>
        <p:nvPicPr>
          <p:cNvPr id="27" name="Graphic 26" descr="User with solid fill">
            <a:extLst>
              <a:ext uri="{FF2B5EF4-FFF2-40B4-BE49-F238E27FC236}">
                <a16:creationId xmlns:a16="http://schemas.microsoft.com/office/drawing/2014/main" id="{FB2988DB-23E8-8650-2AEA-9DC28AA873B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158476" y="4676692"/>
            <a:ext cx="500743" cy="500743"/>
          </a:xfrm>
          <a:prstGeom prst="rect">
            <a:avLst/>
          </a:prstGeom>
        </p:spPr>
      </p:pic>
      <p:pic>
        <p:nvPicPr>
          <p:cNvPr id="28" name="Graphic 27" descr="User with solid fill">
            <a:extLst>
              <a:ext uri="{FF2B5EF4-FFF2-40B4-BE49-F238E27FC236}">
                <a16:creationId xmlns:a16="http://schemas.microsoft.com/office/drawing/2014/main" id="{9FBF1542-3683-4342-163A-3BCAC0A5CDF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827159" y="4676692"/>
            <a:ext cx="500743" cy="500743"/>
          </a:xfrm>
          <a:prstGeom prst="rect">
            <a:avLst/>
          </a:prstGeom>
        </p:spPr>
      </p:pic>
      <p:pic>
        <p:nvPicPr>
          <p:cNvPr id="29" name="Graphic 28" descr="User with solid fill">
            <a:extLst>
              <a:ext uri="{FF2B5EF4-FFF2-40B4-BE49-F238E27FC236}">
                <a16:creationId xmlns:a16="http://schemas.microsoft.com/office/drawing/2014/main" id="{63D5D806-08E3-2707-53D3-E14E8D94E76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166172" y="4679802"/>
            <a:ext cx="500743" cy="500743"/>
          </a:xfrm>
          <a:prstGeom prst="rect">
            <a:avLst/>
          </a:prstGeom>
        </p:spPr>
      </p:pic>
      <p:pic>
        <p:nvPicPr>
          <p:cNvPr id="30" name="Graphic 29" descr="User with solid fill">
            <a:extLst>
              <a:ext uri="{FF2B5EF4-FFF2-40B4-BE49-F238E27FC236}">
                <a16:creationId xmlns:a16="http://schemas.microsoft.com/office/drawing/2014/main" id="{40285897-ECAD-55B8-4673-71676D52B15A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497415" y="4673582"/>
            <a:ext cx="500743" cy="500743"/>
          </a:xfrm>
          <a:prstGeom prst="rect">
            <a:avLst/>
          </a:prstGeom>
        </p:spPr>
      </p:pic>
      <p:pic>
        <p:nvPicPr>
          <p:cNvPr id="31" name="Graphic 30" descr="User with solid fill">
            <a:extLst>
              <a:ext uri="{FF2B5EF4-FFF2-40B4-BE49-F238E27FC236}">
                <a16:creationId xmlns:a16="http://schemas.microsoft.com/office/drawing/2014/main" id="{3E7757AE-E8C2-2172-36D2-221626AB39B0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822427" y="4673582"/>
            <a:ext cx="500743" cy="500743"/>
          </a:xfrm>
          <a:prstGeom prst="rect">
            <a:avLst/>
          </a:prstGeom>
        </p:spPr>
      </p:pic>
      <p:pic>
        <p:nvPicPr>
          <p:cNvPr id="32" name="Graphic 31" descr="User with solid fill">
            <a:extLst>
              <a:ext uri="{FF2B5EF4-FFF2-40B4-BE49-F238E27FC236}">
                <a16:creationId xmlns:a16="http://schemas.microsoft.com/office/drawing/2014/main" id="{9ED78CB3-4597-DAEA-5A84-C597FFC55B6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152109" y="4676692"/>
            <a:ext cx="500743" cy="500743"/>
          </a:xfrm>
          <a:prstGeom prst="rect">
            <a:avLst/>
          </a:prstGeom>
        </p:spPr>
      </p:pic>
      <p:pic>
        <p:nvPicPr>
          <p:cNvPr id="33" name="Graphic 32" descr="User with solid fill">
            <a:extLst>
              <a:ext uri="{FF2B5EF4-FFF2-40B4-BE49-F238E27FC236}">
                <a16:creationId xmlns:a16="http://schemas.microsoft.com/office/drawing/2014/main" id="{B9640925-89B7-D8EF-C0E1-24BF2B218FB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483352" y="4676692"/>
            <a:ext cx="500743" cy="500743"/>
          </a:xfrm>
          <a:prstGeom prst="rect">
            <a:avLst/>
          </a:prstGeom>
        </p:spPr>
      </p:pic>
      <p:pic>
        <p:nvPicPr>
          <p:cNvPr id="34" name="Graphic 33" descr="User with solid fill">
            <a:extLst>
              <a:ext uri="{FF2B5EF4-FFF2-40B4-BE49-F238E27FC236}">
                <a16:creationId xmlns:a16="http://schemas.microsoft.com/office/drawing/2014/main" id="{4799B513-E84D-0041-9918-44FBFF90018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814595" y="4679803"/>
            <a:ext cx="500743" cy="500743"/>
          </a:xfrm>
          <a:prstGeom prst="rect">
            <a:avLst/>
          </a:prstGeom>
        </p:spPr>
      </p:pic>
      <p:pic>
        <p:nvPicPr>
          <p:cNvPr id="35" name="Graphic 34" descr="User with solid fill">
            <a:extLst>
              <a:ext uri="{FF2B5EF4-FFF2-40B4-BE49-F238E27FC236}">
                <a16:creationId xmlns:a16="http://schemas.microsoft.com/office/drawing/2014/main" id="{CB30F8BF-CF2E-12BE-16C7-EDB4722087F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148938" y="4679803"/>
            <a:ext cx="500743" cy="500743"/>
          </a:xfrm>
          <a:prstGeom prst="rect">
            <a:avLst/>
          </a:prstGeom>
        </p:spPr>
      </p:pic>
      <p:pic>
        <p:nvPicPr>
          <p:cNvPr id="37" name="Graphic 36" descr="User with solid fill">
            <a:extLst>
              <a:ext uri="{FF2B5EF4-FFF2-40B4-BE49-F238E27FC236}">
                <a16:creationId xmlns:a16="http://schemas.microsoft.com/office/drawing/2014/main" id="{097C3615-EB2C-2A24-3EE5-01A72F15196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156985" y="5182074"/>
            <a:ext cx="500743" cy="500743"/>
          </a:xfrm>
          <a:prstGeom prst="rect">
            <a:avLst/>
          </a:prstGeom>
        </p:spPr>
      </p:pic>
      <p:pic>
        <p:nvPicPr>
          <p:cNvPr id="38" name="Graphic 37" descr="User with solid fill">
            <a:extLst>
              <a:ext uri="{FF2B5EF4-FFF2-40B4-BE49-F238E27FC236}">
                <a16:creationId xmlns:a16="http://schemas.microsoft.com/office/drawing/2014/main" id="{75EF1BCF-8F1F-78B3-FB64-A6F7890DE76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24200" y="5182074"/>
            <a:ext cx="500743" cy="500743"/>
          </a:xfrm>
          <a:prstGeom prst="rect">
            <a:avLst/>
          </a:prstGeom>
        </p:spPr>
      </p:pic>
      <p:pic>
        <p:nvPicPr>
          <p:cNvPr id="39" name="Graphic 38" descr="User with solid fill">
            <a:extLst>
              <a:ext uri="{FF2B5EF4-FFF2-40B4-BE49-F238E27FC236}">
                <a16:creationId xmlns:a16="http://schemas.microsoft.com/office/drawing/2014/main" id="{CC67D7FD-5047-D6AD-BF66-D506675FEB5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822568" y="5182073"/>
            <a:ext cx="500743" cy="500743"/>
          </a:xfrm>
          <a:prstGeom prst="rect">
            <a:avLst/>
          </a:prstGeom>
        </p:spPr>
      </p:pic>
      <p:pic>
        <p:nvPicPr>
          <p:cNvPr id="40" name="Graphic 39" descr="User with solid fill">
            <a:extLst>
              <a:ext uri="{FF2B5EF4-FFF2-40B4-BE49-F238E27FC236}">
                <a16:creationId xmlns:a16="http://schemas.microsoft.com/office/drawing/2014/main" id="{AB6108BD-0BF8-7D27-1FAE-989CE9D6003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489780" y="5182073"/>
            <a:ext cx="500743" cy="500743"/>
          </a:xfrm>
          <a:prstGeom prst="rect">
            <a:avLst/>
          </a:prstGeom>
        </p:spPr>
      </p:pic>
      <p:pic>
        <p:nvPicPr>
          <p:cNvPr id="41" name="Graphic 40" descr="User with solid fill">
            <a:extLst>
              <a:ext uri="{FF2B5EF4-FFF2-40B4-BE49-F238E27FC236}">
                <a16:creationId xmlns:a16="http://schemas.microsoft.com/office/drawing/2014/main" id="{F98E4E6E-A280-019C-F5FA-391BE4AB93F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492816" y="5182072"/>
            <a:ext cx="500743" cy="500743"/>
          </a:xfrm>
          <a:prstGeom prst="rect">
            <a:avLst/>
          </a:prstGeom>
        </p:spPr>
      </p:pic>
      <p:pic>
        <p:nvPicPr>
          <p:cNvPr id="42" name="Graphic 41" descr="User with solid fill">
            <a:extLst>
              <a:ext uri="{FF2B5EF4-FFF2-40B4-BE49-F238E27FC236}">
                <a16:creationId xmlns:a16="http://schemas.microsoft.com/office/drawing/2014/main" id="{9655C1C5-DA61-59FF-40B6-F39C453729E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158476" y="5182072"/>
            <a:ext cx="500743" cy="500743"/>
          </a:xfrm>
          <a:prstGeom prst="rect">
            <a:avLst/>
          </a:prstGeom>
        </p:spPr>
      </p:pic>
      <p:pic>
        <p:nvPicPr>
          <p:cNvPr id="43" name="Graphic 42" descr="User with solid fill">
            <a:extLst>
              <a:ext uri="{FF2B5EF4-FFF2-40B4-BE49-F238E27FC236}">
                <a16:creationId xmlns:a16="http://schemas.microsoft.com/office/drawing/2014/main" id="{D47F6FF7-871E-9749-D123-A0E940BA42C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827159" y="5182072"/>
            <a:ext cx="500743" cy="500743"/>
          </a:xfrm>
          <a:prstGeom prst="rect">
            <a:avLst/>
          </a:prstGeom>
        </p:spPr>
      </p:pic>
      <p:pic>
        <p:nvPicPr>
          <p:cNvPr id="44" name="Graphic 43" descr="User with solid fill">
            <a:extLst>
              <a:ext uri="{FF2B5EF4-FFF2-40B4-BE49-F238E27FC236}">
                <a16:creationId xmlns:a16="http://schemas.microsoft.com/office/drawing/2014/main" id="{89BC2182-2F9A-59FE-0C11-26633B95810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166172" y="5185182"/>
            <a:ext cx="500743" cy="500743"/>
          </a:xfrm>
          <a:prstGeom prst="rect">
            <a:avLst/>
          </a:prstGeom>
        </p:spPr>
      </p:pic>
      <p:pic>
        <p:nvPicPr>
          <p:cNvPr id="45" name="Graphic 44" descr="User with solid fill">
            <a:extLst>
              <a:ext uri="{FF2B5EF4-FFF2-40B4-BE49-F238E27FC236}">
                <a16:creationId xmlns:a16="http://schemas.microsoft.com/office/drawing/2014/main" id="{A8D68276-E5B3-BDE1-F4AF-2CD0E7B54B8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497415" y="5178962"/>
            <a:ext cx="500743" cy="500743"/>
          </a:xfrm>
          <a:prstGeom prst="rect">
            <a:avLst/>
          </a:prstGeom>
        </p:spPr>
      </p:pic>
      <p:pic>
        <p:nvPicPr>
          <p:cNvPr id="46" name="Graphic 45" descr="User with solid fill">
            <a:extLst>
              <a:ext uri="{FF2B5EF4-FFF2-40B4-BE49-F238E27FC236}">
                <a16:creationId xmlns:a16="http://schemas.microsoft.com/office/drawing/2014/main" id="{F55ABFB0-5795-0759-A4BD-20593858FF4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822427" y="5178962"/>
            <a:ext cx="500743" cy="500743"/>
          </a:xfrm>
          <a:prstGeom prst="rect">
            <a:avLst/>
          </a:prstGeom>
        </p:spPr>
      </p:pic>
      <p:pic>
        <p:nvPicPr>
          <p:cNvPr id="47" name="Graphic 46" descr="User with solid fill">
            <a:extLst>
              <a:ext uri="{FF2B5EF4-FFF2-40B4-BE49-F238E27FC236}">
                <a16:creationId xmlns:a16="http://schemas.microsoft.com/office/drawing/2014/main" id="{6510B978-6499-26E0-3227-7682C8CF656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152109" y="5182072"/>
            <a:ext cx="500743" cy="500743"/>
          </a:xfrm>
          <a:prstGeom prst="rect">
            <a:avLst/>
          </a:prstGeom>
        </p:spPr>
      </p:pic>
      <p:pic>
        <p:nvPicPr>
          <p:cNvPr id="48" name="Graphic 47" descr="User with solid fill">
            <a:extLst>
              <a:ext uri="{FF2B5EF4-FFF2-40B4-BE49-F238E27FC236}">
                <a16:creationId xmlns:a16="http://schemas.microsoft.com/office/drawing/2014/main" id="{65DAE969-730F-D7FC-9BA2-EF231F6B3F2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483352" y="5182072"/>
            <a:ext cx="500743" cy="500743"/>
          </a:xfrm>
          <a:prstGeom prst="rect">
            <a:avLst/>
          </a:prstGeom>
        </p:spPr>
      </p:pic>
      <p:pic>
        <p:nvPicPr>
          <p:cNvPr id="49" name="Graphic 48" descr="User with solid fill">
            <a:extLst>
              <a:ext uri="{FF2B5EF4-FFF2-40B4-BE49-F238E27FC236}">
                <a16:creationId xmlns:a16="http://schemas.microsoft.com/office/drawing/2014/main" id="{60CCFD7C-196A-0D23-EDDA-F8C4EDBA7F7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814595" y="5185183"/>
            <a:ext cx="500743" cy="500743"/>
          </a:xfrm>
          <a:prstGeom prst="rect">
            <a:avLst/>
          </a:prstGeom>
        </p:spPr>
      </p:pic>
      <p:pic>
        <p:nvPicPr>
          <p:cNvPr id="50" name="Graphic 49" descr="User with solid fill">
            <a:extLst>
              <a:ext uri="{FF2B5EF4-FFF2-40B4-BE49-F238E27FC236}">
                <a16:creationId xmlns:a16="http://schemas.microsoft.com/office/drawing/2014/main" id="{D8B4DDE4-187C-D8F2-3C2E-87E66485275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148938" y="5185183"/>
            <a:ext cx="500743" cy="500743"/>
          </a:xfrm>
          <a:prstGeom prst="rect">
            <a:avLst/>
          </a:prstGeom>
        </p:spPr>
      </p:pic>
      <p:pic>
        <p:nvPicPr>
          <p:cNvPr id="52" name="Graphic 51" descr="User with solid fill">
            <a:extLst>
              <a:ext uri="{FF2B5EF4-FFF2-40B4-BE49-F238E27FC236}">
                <a16:creationId xmlns:a16="http://schemas.microsoft.com/office/drawing/2014/main" id="{D444D091-78F5-2214-EDA5-2B0FFDE84EE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164751" y="5692403"/>
            <a:ext cx="500743" cy="500743"/>
          </a:xfrm>
          <a:prstGeom prst="rect">
            <a:avLst/>
          </a:prstGeom>
        </p:spPr>
      </p:pic>
      <p:pic>
        <p:nvPicPr>
          <p:cNvPr id="53" name="Graphic 52" descr="User with solid fill">
            <a:extLst>
              <a:ext uri="{FF2B5EF4-FFF2-40B4-BE49-F238E27FC236}">
                <a16:creationId xmlns:a16="http://schemas.microsoft.com/office/drawing/2014/main" id="{34C2964E-19BD-E337-34B9-7D3716CAE18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31966" y="5692403"/>
            <a:ext cx="500743" cy="500743"/>
          </a:xfrm>
          <a:prstGeom prst="rect">
            <a:avLst/>
          </a:prstGeom>
        </p:spPr>
      </p:pic>
      <p:pic>
        <p:nvPicPr>
          <p:cNvPr id="54" name="Graphic 53" descr="User with solid fill">
            <a:extLst>
              <a:ext uri="{FF2B5EF4-FFF2-40B4-BE49-F238E27FC236}">
                <a16:creationId xmlns:a16="http://schemas.microsoft.com/office/drawing/2014/main" id="{12D7115A-9D2E-20AB-FC86-D0186CBF241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830334" y="5692402"/>
            <a:ext cx="500743" cy="500743"/>
          </a:xfrm>
          <a:prstGeom prst="rect">
            <a:avLst/>
          </a:prstGeom>
        </p:spPr>
      </p:pic>
      <p:pic>
        <p:nvPicPr>
          <p:cNvPr id="55" name="Graphic 54" descr="User with solid fill">
            <a:extLst>
              <a:ext uri="{FF2B5EF4-FFF2-40B4-BE49-F238E27FC236}">
                <a16:creationId xmlns:a16="http://schemas.microsoft.com/office/drawing/2014/main" id="{7AA7A563-C567-6EEE-3CA7-8F7B7FFE335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497546" y="5692402"/>
            <a:ext cx="500743" cy="500743"/>
          </a:xfrm>
          <a:prstGeom prst="rect">
            <a:avLst/>
          </a:prstGeom>
        </p:spPr>
      </p:pic>
      <p:pic>
        <p:nvPicPr>
          <p:cNvPr id="56" name="Graphic 55" descr="User with solid fill">
            <a:extLst>
              <a:ext uri="{FF2B5EF4-FFF2-40B4-BE49-F238E27FC236}">
                <a16:creationId xmlns:a16="http://schemas.microsoft.com/office/drawing/2014/main" id="{2E9AE028-6F9C-56E8-3460-1C5321AA81B0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500582" y="5692401"/>
            <a:ext cx="500743" cy="500743"/>
          </a:xfrm>
          <a:prstGeom prst="rect">
            <a:avLst/>
          </a:prstGeom>
        </p:spPr>
      </p:pic>
      <p:pic>
        <p:nvPicPr>
          <p:cNvPr id="57" name="Graphic 56" descr="User with solid fill">
            <a:extLst>
              <a:ext uri="{FF2B5EF4-FFF2-40B4-BE49-F238E27FC236}">
                <a16:creationId xmlns:a16="http://schemas.microsoft.com/office/drawing/2014/main" id="{E9A4EF13-57B6-166F-3F87-BABC43B6C49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166242" y="5692401"/>
            <a:ext cx="500743" cy="500743"/>
          </a:xfrm>
          <a:prstGeom prst="rect">
            <a:avLst/>
          </a:prstGeom>
        </p:spPr>
      </p:pic>
      <p:pic>
        <p:nvPicPr>
          <p:cNvPr id="58" name="Graphic 57" descr="User with solid fill">
            <a:extLst>
              <a:ext uri="{FF2B5EF4-FFF2-40B4-BE49-F238E27FC236}">
                <a16:creationId xmlns:a16="http://schemas.microsoft.com/office/drawing/2014/main" id="{AC9F43B1-676D-DBD8-05A8-D3A1CBA79FE2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834925" y="5692401"/>
            <a:ext cx="500743" cy="500743"/>
          </a:xfrm>
          <a:prstGeom prst="rect">
            <a:avLst/>
          </a:prstGeom>
        </p:spPr>
      </p:pic>
      <p:pic>
        <p:nvPicPr>
          <p:cNvPr id="59" name="Graphic 58" descr="User with solid fill">
            <a:extLst>
              <a:ext uri="{FF2B5EF4-FFF2-40B4-BE49-F238E27FC236}">
                <a16:creationId xmlns:a16="http://schemas.microsoft.com/office/drawing/2014/main" id="{91D9438F-1EB5-EFA5-EE5D-7FAD6D7C4B7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164607" y="5695511"/>
            <a:ext cx="500743" cy="500743"/>
          </a:xfrm>
          <a:prstGeom prst="rect">
            <a:avLst/>
          </a:prstGeom>
        </p:spPr>
      </p:pic>
      <p:pic>
        <p:nvPicPr>
          <p:cNvPr id="60" name="Graphic 59" descr="User with solid fill">
            <a:extLst>
              <a:ext uri="{FF2B5EF4-FFF2-40B4-BE49-F238E27FC236}">
                <a16:creationId xmlns:a16="http://schemas.microsoft.com/office/drawing/2014/main" id="{2DADC45D-E58C-B32B-E580-66363AD996C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495850" y="5698622"/>
            <a:ext cx="500743" cy="500743"/>
          </a:xfrm>
          <a:prstGeom prst="rect">
            <a:avLst/>
          </a:prstGeom>
        </p:spPr>
      </p:pic>
      <p:pic>
        <p:nvPicPr>
          <p:cNvPr id="61" name="Graphic 60" descr="User with solid fill">
            <a:extLst>
              <a:ext uri="{FF2B5EF4-FFF2-40B4-BE49-F238E27FC236}">
                <a16:creationId xmlns:a16="http://schemas.microsoft.com/office/drawing/2014/main" id="{13CDA4BA-5B6E-B416-7209-48DC10AEB9C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830193" y="5698622"/>
            <a:ext cx="500743" cy="500743"/>
          </a:xfrm>
          <a:prstGeom prst="rect">
            <a:avLst/>
          </a:prstGeom>
        </p:spPr>
      </p:pic>
      <p:pic>
        <p:nvPicPr>
          <p:cNvPr id="62" name="Graphic 61" descr="User with solid fill">
            <a:extLst>
              <a:ext uri="{FF2B5EF4-FFF2-40B4-BE49-F238E27FC236}">
                <a16:creationId xmlns:a16="http://schemas.microsoft.com/office/drawing/2014/main" id="{769B7ADF-320D-A6A6-0C95-4444BA97CFE1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159875" y="5692401"/>
            <a:ext cx="500743" cy="500743"/>
          </a:xfrm>
          <a:prstGeom prst="rect">
            <a:avLst/>
          </a:prstGeom>
        </p:spPr>
      </p:pic>
      <p:pic>
        <p:nvPicPr>
          <p:cNvPr id="63" name="Graphic 62" descr="User with solid fill">
            <a:extLst>
              <a:ext uri="{FF2B5EF4-FFF2-40B4-BE49-F238E27FC236}">
                <a16:creationId xmlns:a16="http://schemas.microsoft.com/office/drawing/2014/main" id="{E6C329CE-6B9A-6052-716F-A57A2A2B13E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491118" y="5692401"/>
            <a:ext cx="500743" cy="500743"/>
          </a:xfrm>
          <a:prstGeom prst="rect">
            <a:avLst/>
          </a:prstGeom>
        </p:spPr>
      </p:pic>
      <p:pic>
        <p:nvPicPr>
          <p:cNvPr id="64" name="Graphic 63" descr="User with solid fill">
            <a:extLst>
              <a:ext uri="{FF2B5EF4-FFF2-40B4-BE49-F238E27FC236}">
                <a16:creationId xmlns:a16="http://schemas.microsoft.com/office/drawing/2014/main" id="{E636ED31-575A-C0DB-CEE4-A6D243CB5C7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822361" y="5695512"/>
            <a:ext cx="500743" cy="500743"/>
          </a:xfrm>
          <a:prstGeom prst="rect">
            <a:avLst/>
          </a:prstGeom>
        </p:spPr>
      </p:pic>
      <p:pic>
        <p:nvPicPr>
          <p:cNvPr id="65" name="Graphic 64" descr="User with solid fill">
            <a:extLst>
              <a:ext uri="{FF2B5EF4-FFF2-40B4-BE49-F238E27FC236}">
                <a16:creationId xmlns:a16="http://schemas.microsoft.com/office/drawing/2014/main" id="{8665D09F-1082-58B3-5949-B866F1E2B42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147373" y="5695512"/>
            <a:ext cx="500743" cy="500743"/>
          </a:xfrm>
          <a:prstGeom prst="rect">
            <a:avLst/>
          </a:prstGeom>
        </p:spPr>
      </p:pic>
      <p:pic>
        <p:nvPicPr>
          <p:cNvPr id="66" name="Graphic 65" descr="User with solid fill">
            <a:extLst>
              <a:ext uri="{FF2B5EF4-FFF2-40B4-BE49-F238E27FC236}">
                <a16:creationId xmlns:a16="http://schemas.microsoft.com/office/drawing/2014/main" id="{614F9774-E705-9D10-5E2F-B932D5E690F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843794" y="5423640"/>
            <a:ext cx="500743" cy="500743"/>
          </a:xfrm>
          <a:prstGeom prst="rect">
            <a:avLst/>
          </a:prstGeom>
        </p:spPr>
      </p:pic>
      <p:pic>
        <p:nvPicPr>
          <p:cNvPr id="67" name="Graphic 66" descr="User with solid fill">
            <a:extLst>
              <a:ext uri="{FF2B5EF4-FFF2-40B4-BE49-F238E27FC236}">
                <a16:creationId xmlns:a16="http://schemas.microsoft.com/office/drawing/2014/main" id="{A7AD4C1D-0846-7BE3-87B3-C2259461F74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950028" y="4536217"/>
            <a:ext cx="500743" cy="500743"/>
          </a:xfrm>
          <a:prstGeom prst="rect">
            <a:avLst/>
          </a:prstGeom>
        </p:spPr>
      </p:pic>
      <p:pic>
        <p:nvPicPr>
          <p:cNvPr id="68" name="Graphic 67" descr="User with solid fill">
            <a:extLst>
              <a:ext uri="{FF2B5EF4-FFF2-40B4-BE49-F238E27FC236}">
                <a16:creationId xmlns:a16="http://schemas.microsoft.com/office/drawing/2014/main" id="{9B133007-69ED-A91F-B355-6DF654CD561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843795" y="4547361"/>
            <a:ext cx="500743" cy="500743"/>
          </a:xfrm>
          <a:prstGeom prst="rect">
            <a:avLst/>
          </a:prstGeom>
        </p:spPr>
      </p:pic>
      <p:pic>
        <p:nvPicPr>
          <p:cNvPr id="69" name="Graphic 68" descr="User with solid fill">
            <a:extLst>
              <a:ext uri="{FF2B5EF4-FFF2-40B4-BE49-F238E27FC236}">
                <a16:creationId xmlns:a16="http://schemas.microsoft.com/office/drawing/2014/main" id="{C451B114-D2F4-E248-B393-38C024F4B43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426738" y="4922897"/>
            <a:ext cx="500743" cy="500743"/>
          </a:xfrm>
          <a:prstGeom prst="rect">
            <a:avLst/>
          </a:prstGeom>
        </p:spPr>
      </p:pic>
      <p:pic>
        <p:nvPicPr>
          <p:cNvPr id="70" name="Graphic 69" descr="User with solid fill">
            <a:extLst>
              <a:ext uri="{FF2B5EF4-FFF2-40B4-BE49-F238E27FC236}">
                <a16:creationId xmlns:a16="http://schemas.microsoft.com/office/drawing/2014/main" id="{0A4962FF-3A43-E006-6AE2-B8ACD8B7C23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308766" y="4923953"/>
            <a:ext cx="500743" cy="500743"/>
          </a:xfrm>
          <a:prstGeom prst="rect">
            <a:avLst/>
          </a:prstGeom>
        </p:spPr>
      </p:pic>
      <p:pic>
        <p:nvPicPr>
          <p:cNvPr id="71" name="Graphic 70" descr="User with solid fill">
            <a:extLst>
              <a:ext uri="{FF2B5EF4-FFF2-40B4-BE49-F238E27FC236}">
                <a16:creationId xmlns:a16="http://schemas.microsoft.com/office/drawing/2014/main" id="{D7279783-40B5-5026-FB34-FB9ABABCEE3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364841" y="4923952"/>
            <a:ext cx="500743" cy="500743"/>
          </a:xfrm>
          <a:prstGeom prst="rect">
            <a:avLst/>
          </a:prstGeom>
        </p:spPr>
      </p:pic>
      <p:pic>
        <p:nvPicPr>
          <p:cNvPr id="72" name="Graphic 71" descr="User with solid fill">
            <a:extLst>
              <a:ext uri="{FF2B5EF4-FFF2-40B4-BE49-F238E27FC236}">
                <a16:creationId xmlns:a16="http://schemas.microsoft.com/office/drawing/2014/main" id="{344E5BA5-65F6-3B53-3CE7-7E37623F9CC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947754" y="5419445"/>
            <a:ext cx="500743" cy="500743"/>
          </a:xfrm>
          <a:prstGeom prst="rect">
            <a:avLst/>
          </a:prstGeom>
        </p:spPr>
      </p:pic>
      <p:pic>
        <p:nvPicPr>
          <p:cNvPr id="73" name="Graphic 72" descr="User with solid fill">
            <a:extLst>
              <a:ext uri="{FF2B5EF4-FFF2-40B4-BE49-F238E27FC236}">
                <a16:creationId xmlns:a16="http://schemas.microsoft.com/office/drawing/2014/main" id="{F9E2E3C2-7BC6-A95C-5BCC-12ACE7813C1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907615" y="5423113"/>
            <a:ext cx="500743" cy="500743"/>
          </a:xfrm>
          <a:prstGeom prst="rect">
            <a:avLst/>
          </a:prstGeom>
        </p:spPr>
      </p:pic>
      <p:pic>
        <p:nvPicPr>
          <p:cNvPr id="74" name="Graphic 73" descr="User with solid fill">
            <a:extLst>
              <a:ext uri="{FF2B5EF4-FFF2-40B4-BE49-F238E27FC236}">
                <a16:creationId xmlns:a16="http://schemas.microsoft.com/office/drawing/2014/main" id="{CE4E647B-9CC3-F5E4-FD1E-1DEA2DE43D5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899090" y="4547360"/>
            <a:ext cx="500743" cy="500743"/>
          </a:xfrm>
          <a:prstGeom prst="rect">
            <a:avLst/>
          </a:prstGeom>
        </p:spPr>
      </p:pic>
      <p:pic>
        <p:nvPicPr>
          <p:cNvPr id="75" name="Graphic 74" descr="User with solid fill">
            <a:extLst>
              <a:ext uri="{FF2B5EF4-FFF2-40B4-BE49-F238E27FC236}">
                <a16:creationId xmlns:a16="http://schemas.microsoft.com/office/drawing/2014/main" id="{8ADB3117-86B6-A8D6-22D6-82E4B73130B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449719" y="4930173"/>
            <a:ext cx="500743" cy="500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11806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309D25D-E10B-4834-F987-8FAB6C532C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Collecting data from a population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7C87EF4B-2D4E-F829-B1D1-2A26D6BFC44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09600" y="2106204"/>
                <a:ext cx="5486400" cy="4036534"/>
              </a:xfrm>
            </p:spPr>
            <p:txBody>
              <a:bodyPr>
                <a:normAutofit lnSpcReduction="10000"/>
              </a:bodyPr>
              <a:lstStyle/>
              <a:p>
                <a:pPr marL="342900" indent="-342900">
                  <a:buClrTx/>
                  <a:buFont typeface="Wingdings" panose="05000000000000000000" pitchFamily="2" charset="2"/>
                  <a:buChar char="v"/>
                </a:pPr>
                <a:r>
                  <a:rPr lang="en-GB" dirty="0"/>
                  <a:t>Reasonable when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GB" dirty="0"/>
                  <a:t> </a:t>
                </a:r>
                <a:r>
                  <a:rPr lang="en-US" dirty="0"/>
                  <a:t>is small, for example rare diseases (</a:t>
                </a:r>
                <a:r>
                  <a:rPr lang="en-US" dirty="0">
                    <a:hlinkClick r:id="rId2"/>
                  </a:rPr>
                  <a:t>England Rare Diseases Action Plan 2024 - GOV.UK</a:t>
                </a:r>
                <a:r>
                  <a:rPr lang="en-US" dirty="0"/>
                  <a:t>)</a:t>
                </a:r>
              </a:p>
              <a:p>
                <a:pPr marL="342900" indent="-342900">
                  <a:buClrTx/>
                  <a:buFont typeface="Wingdings" panose="05000000000000000000" pitchFamily="2" charset="2"/>
                  <a:buChar char="v"/>
                </a:pPr>
                <a:r>
                  <a:rPr lang="en-US" dirty="0"/>
                  <a:t>CENSUS (all people and households in England and Wales)</a:t>
                </a:r>
              </a:p>
              <a:p>
                <a:endParaRPr lang="en-US" dirty="0"/>
              </a:p>
              <a:p>
                <a:pPr marL="342900" indent="-342900">
                  <a:buClrTx/>
                  <a:buFont typeface="Wingdings" panose="05000000000000000000" pitchFamily="2" charset="2"/>
                  <a:buChar char="v"/>
                </a:pPr>
                <a:r>
                  <a:rPr lang="en-GB" dirty="0"/>
                  <a:t>Usually,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dirty="0"/>
                  <a:t> is very large:</a:t>
                </a:r>
              </a:p>
              <a:p>
                <a:pPr marL="571500" lvl="1" indent="-342900">
                  <a:buSzPct val="120000"/>
                  <a:buBlip>
                    <a:blip r:embed="rId3">
                      <a:extLst>
                        <a:ext uri="{96DAC541-7B7A-43D3-8B79-37D633B846F1}">
                          <asvg:svgBlip xmlns:asvg="http://schemas.microsoft.com/office/drawing/2016/SVG/main" r:embed="rId4"/>
                        </a:ext>
                      </a:extLst>
                    </a:blip>
                  </a:buBlip>
                </a:pPr>
                <a:r>
                  <a:rPr lang="en-US" dirty="0"/>
                  <a:t>It takes too much time to ask every person, or to record every object!</a:t>
                </a:r>
              </a:p>
              <a:p>
                <a:pPr marL="571500" lvl="1" indent="-342900">
                  <a:buSzPct val="120000"/>
                  <a:buBlip>
                    <a:blip r:embed="rId3">
                      <a:extLst>
                        <a:ext uri="{96DAC541-7B7A-43D3-8B79-37D633B846F1}">
                          <asvg:svgBlip xmlns:asvg="http://schemas.microsoft.com/office/drawing/2016/SVG/main" r:embed="rId4"/>
                        </a:ext>
                      </a:extLst>
                    </a:blip>
                  </a:buBlip>
                </a:pPr>
                <a:r>
                  <a:rPr lang="en-US" dirty="0"/>
                  <a:t>It is too expensive</a:t>
                </a:r>
              </a:p>
              <a:p>
                <a:pPr marL="571500" lvl="1" indent="-342900">
                  <a:buSzPct val="120000"/>
                  <a:buBlip>
                    <a:blip r:embed="rId3">
                      <a:extLst>
                        <a:ext uri="{96DAC541-7B7A-43D3-8B79-37D633B846F1}">
                          <asvg:svgBlip xmlns:asvg="http://schemas.microsoft.com/office/drawing/2016/SVG/main" r:embed="rId4"/>
                        </a:ext>
                      </a:extLst>
                    </a:blip>
                  </a:buBlip>
                </a:pPr>
                <a:r>
                  <a:rPr lang="en-US" dirty="0"/>
                  <a:t>Not practical</a:t>
                </a:r>
              </a:p>
            </p:txBody>
          </p:sp>
        </mc:Choice>
        <mc:Fallback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7C87EF4B-2D4E-F829-B1D1-2A26D6BFC44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2106204"/>
                <a:ext cx="5486400" cy="4036534"/>
              </a:xfrm>
              <a:blipFill>
                <a:blip r:embed="rId5"/>
                <a:stretch>
                  <a:fillRect l="-1000" t="-755" r="-144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 descr="A close-up of a table&#10;&#10;Description automatically generated">
            <a:extLst>
              <a:ext uri="{FF2B5EF4-FFF2-40B4-BE49-F238E27FC236}">
                <a16:creationId xmlns:a16="http://schemas.microsoft.com/office/drawing/2014/main" id="{1FD8E4E3-37DF-2E89-96CD-DB97E62D70D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7"/>
              </a:ext>
            </a:extLst>
          </a:blip>
          <a:stretch>
            <a:fillRect/>
          </a:stretch>
        </p:blipFill>
        <p:spPr>
          <a:xfrm>
            <a:off x="7248525" y="2121344"/>
            <a:ext cx="4212573" cy="417887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221740D-4EF8-D057-FE99-6F53B4C48EE2}"/>
              </a:ext>
            </a:extLst>
          </p:cNvPr>
          <p:cNvSpPr txBox="1"/>
          <p:nvPr/>
        </p:nvSpPr>
        <p:spPr>
          <a:xfrm>
            <a:off x="7248525" y="6326870"/>
            <a:ext cx="397192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dirty="0">
                <a:hlinkClick r:id="rId7" tooltip="https://www.flickr.com/photos/juggernautco/6063337443"/>
              </a:rPr>
              <a:t>This Photo</a:t>
            </a:r>
            <a:r>
              <a:rPr lang="en-GB" sz="900" dirty="0"/>
              <a:t> by Unknown Author is licensed under </a:t>
            </a:r>
            <a:r>
              <a:rPr lang="en-GB" sz="900" dirty="0">
                <a:hlinkClick r:id="rId8" tooltip="https://creativecommons.org/licenses/by/3.0/"/>
              </a:rPr>
              <a:t>CC BY</a:t>
            </a:r>
            <a:endParaRPr lang="en-GB" sz="900" dirty="0"/>
          </a:p>
        </p:txBody>
      </p:sp>
    </p:spTree>
    <p:extLst>
      <p:ext uri="{BB962C8B-B14F-4D97-AF65-F5344CB8AC3E}">
        <p14:creationId xmlns:p14="http://schemas.microsoft.com/office/powerpoint/2010/main" val="4054676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309D25D-E10B-4834-F987-8FAB6C532C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Collecting data from a sample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C87EF4B-2D4E-F829-B1D1-2A26D6BFC4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ClrTx/>
              <a:buFont typeface="Wingdings" panose="05000000000000000000" pitchFamily="2" charset="2"/>
              <a:buChar char="v"/>
            </a:pPr>
            <a:r>
              <a:rPr lang="en-GB" dirty="0"/>
              <a:t>More </a:t>
            </a:r>
            <a:r>
              <a:rPr lang="en-GB" i="1" dirty="0"/>
              <a:t>efficient</a:t>
            </a:r>
            <a:br>
              <a:rPr lang="en-GB" dirty="0"/>
            </a:br>
            <a:r>
              <a:rPr lang="en-GB" dirty="0"/>
              <a:t>(</a:t>
            </a:r>
            <a:r>
              <a:rPr lang="en-US" dirty="0"/>
              <a:t>storing and running statistical analyses on smaller datasets is easier and reliable)</a:t>
            </a:r>
            <a:endParaRPr lang="en-GB" dirty="0"/>
          </a:p>
          <a:p>
            <a:pPr marL="342900" indent="-342900">
              <a:buClrTx/>
              <a:buFont typeface="Wingdings" panose="05000000000000000000" pitchFamily="2" charset="2"/>
              <a:buChar char="v"/>
            </a:pPr>
            <a:r>
              <a:rPr lang="en-GB" dirty="0"/>
              <a:t>More </a:t>
            </a:r>
            <a:r>
              <a:rPr lang="en-GB" i="1" dirty="0"/>
              <a:t>cost-effective </a:t>
            </a:r>
            <a:br>
              <a:rPr lang="en-GB" dirty="0"/>
            </a:br>
            <a:r>
              <a:rPr lang="en-GB" dirty="0"/>
              <a:t>(</a:t>
            </a:r>
            <a:r>
              <a:rPr lang="en-US" dirty="0"/>
              <a:t>fewer participant, laboratory, equipment, and researcher costs</a:t>
            </a:r>
            <a:r>
              <a:rPr lang="en-GB" dirty="0"/>
              <a:t>)</a:t>
            </a:r>
          </a:p>
          <a:p>
            <a:pPr marL="342900" indent="-342900">
              <a:buClrTx/>
              <a:buFont typeface="Wingdings" panose="05000000000000000000" pitchFamily="2" charset="2"/>
              <a:buChar char="v"/>
            </a:pPr>
            <a:endParaRPr lang="en-US" dirty="0"/>
          </a:p>
          <a:p>
            <a:pPr marL="342900" indent="-342900">
              <a:buClrTx/>
              <a:buFont typeface="Wingdings" panose="05000000000000000000" pitchFamily="2" charset="2"/>
              <a:buChar char="v"/>
            </a:pPr>
            <a:r>
              <a:rPr lang="en-US" dirty="0"/>
              <a:t>Ideally, a sample should be </a:t>
            </a:r>
            <a:r>
              <a:rPr lang="en-US" b="1" dirty="0">
                <a:solidFill>
                  <a:schemeClr val="accent2"/>
                </a:solidFill>
              </a:rPr>
              <a:t>randomly selected </a:t>
            </a:r>
            <a:r>
              <a:rPr lang="en-US" dirty="0"/>
              <a:t>and </a:t>
            </a:r>
            <a:r>
              <a:rPr lang="en-US" b="1" dirty="0">
                <a:solidFill>
                  <a:srgbClr val="7030A0"/>
                </a:solidFill>
              </a:rPr>
              <a:t>representative</a:t>
            </a:r>
            <a:r>
              <a:rPr lang="en-US" dirty="0"/>
              <a:t> of the population</a:t>
            </a:r>
          </a:p>
          <a:p>
            <a:pPr>
              <a:buClrTx/>
            </a:pP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0089320-B933-D57F-51DF-96C10049286D}"/>
              </a:ext>
            </a:extLst>
          </p:cNvPr>
          <p:cNvSpPr txBox="1"/>
          <p:nvPr/>
        </p:nvSpPr>
        <p:spPr>
          <a:xfrm>
            <a:off x="1015482" y="5337109"/>
            <a:ext cx="4517572" cy="646331"/>
          </a:xfrm>
          <a:prstGeom prst="rect">
            <a:avLst/>
          </a:prstGeom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dirty="0"/>
              <a:t>Each member of the population has an exactly equal chance of being selected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51753F5-A0EF-5883-DECE-30237C828705}"/>
              </a:ext>
            </a:extLst>
          </p:cNvPr>
          <p:cNvSpPr txBox="1"/>
          <p:nvPr/>
        </p:nvSpPr>
        <p:spPr>
          <a:xfrm>
            <a:off x="6298941" y="5337108"/>
            <a:ext cx="4517572" cy="646331"/>
          </a:xfrm>
          <a:prstGeom prst="rect">
            <a:avLst/>
          </a:prstGeom>
          <a:noFill/>
          <a:ln w="3810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The members in the sample reflect the properties of an entire population</a:t>
            </a:r>
            <a:endParaRPr lang="en-GB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9C44295E-2F02-9CDB-7D27-3736C2521AC2}"/>
              </a:ext>
            </a:extLst>
          </p:cNvPr>
          <p:cNvCxnSpPr>
            <a:cxnSpLocks/>
          </p:cNvCxnSpPr>
          <p:nvPr/>
        </p:nvCxnSpPr>
        <p:spPr>
          <a:xfrm flipH="1">
            <a:off x="3946849" y="4572000"/>
            <a:ext cx="559837" cy="646331"/>
          </a:xfrm>
          <a:prstGeom prst="straightConnector1">
            <a:avLst/>
          </a:prstGeom>
          <a:ln w="762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F445B2A4-BB9C-8BC4-8341-C51B9A191B13}"/>
              </a:ext>
            </a:extLst>
          </p:cNvPr>
          <p:cNvCxnSpPr>
            <a:cxnSpLocks/>
          </p:cNvCxnSpPr>
          <p:nvPr/>
        </p:nvCxnSpPr>
        <p:spPr>
          <a:xfrm>
            <a:off x="8014996" y="4572000"/>
            <a:ext cx="239487" cy="653679"/>
          </a:xfrm>
          <a:prstGeom prst="straightConnector1">
            <a:avLst/>
          </a:prstGeom>
          <a:ln w="762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272518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309D25D-E10B-4834-F987-8FAB6C532C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buClrTx/>
            </a:pPr>
            <a:r>
              <a:rPr lang="en-GB" dirty="0"/>
              <a:t>Is the sample randomly selected? </a:t>
            </a:r>
            <a:br>
              <a:rPr lang="en-GB" dirty="0"/>
            </a:br>
            <a:r>
              <a:rPr lang="en-GB" dirty="0"/>
              <a:t>Is it representative?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2F0416E-E42A-973D-65B8-9178D3FF7A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560" y="2470937"/>
            <a:ext cx="5387975" cy="823912"/>
          </a:xfrm>
          <a:ln>
            <a:solidFill>
              <a:schemeClr val="tx1"/>
            </a:solidFill>
          </a:ln>
        </p:spPr>
        <p:txBody>
          <a:bodyPr anchor="ctr"/>
          <a:lstStyle/>
          <a:p>
            <a:pPr algn="ctr"/>
            <a:r>
              <a:rPr lang="en-GB" b="1" dirty="0"/>
              <a:t>Population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4191E63-CAD6-F1FA-7777-52D743F5481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03467" y="2470937"/>
            <a:ext cx="5414510" cy="823912"/>
          </a:xfrm>
          <a:ln>
            <a:solidFill>
              <a:schemeClr val="tx1"/>
            </a:solidFill>
          </a:ln>
        </p:spPr>
        <p:txBody>
          <a:bodyPr anchor="ctr"/>
          <a:lstStyle/>
          <a:p>
            <a:pPr algn="ctr"/>
            <a:r>
              <a:rPr lang="en-GB" b="1" dirty="0"/>
              <a:t>Sample</a:t>
            </a:r>
          </a:p>
        </p:txBody>
      </p:sp>
      <p:grpSp>
        <p:nvGrpSpPr>
          <p:cNvPr id="70" name="Group 69">
            <a:extLst>
              <a:ext uri="{FF2B5EF4-FFF2-40B4-BE49-F238E27FC236}">
                <a16:creationId xmlns:a16="http://schemas.microsoft.com/office/drawing/2014/main" id="{40BE1EC7-3E71-CC6C-CF4F-2257C2469437}"/>
              </a:ext>
            </a:extLst>
          </p:cNvPr>
          <p:cNvGrpSpPr/>
          <p:nvPr/>
        </p:nvGrpSpPr>
        <p:grpSpPr>
          <a:xfrm>
            <a:off x="890846" y="3510713"/>
            <a:ext cx="4825481" cy="2010448"/>
            <a:chOff x="824200" y="4188917"/>
            <a:chExt cx="4825481" cy="2010448"/>
          </a:xfrm>
        </p:grpSpPr>
        <p:pic>
          <p:nvPicPr>
            <p:cNvPr id="71" name="Graphic 70" descr="User with solid fill">
              <a:extLst>
                <a:ext uri="{FF2B5EF4-FFF2-40B4-BE49-F238E27FC236}">
                  <a16:creationId xmlns:a16="http://schemas.microsoft.com/office/drawing/2014/main" id="{71C9415D-D411-B0D8-B66D-6EC9D583F31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156985" y="4188919"/>
              <a:ext cx="500743" cy="500743"/>
            </a:xfrm>
            <a:prstGeom prst="rect">
              <a:avLst/>
            </a:prstGeom>
          </p:spPr>
        </p:pic>
        <p:pic>
          <p:nvPicPr>
            <p:cNvPr id="72" name="Graphic 71" descr="User with solid fill">
              <a:extLst>
                <a:ext uri="{FF2B5EF4-FFF2-40B4-BE49-F238E27FC236}">
                  <a16:creationId xmlns:a16="http://schemas.microsoft.com/office/drawing/2014/main" id="{1439CCE7-C4BB-8C0A-ABE2-DD5F813CC18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824200" y="4188919"/>
              <a:ext cx="500743" cy="500743"/>
            </a:xfrm>
            <a:prstGeom prst="rect">
              <a:avLst/>
            </a:prstGeom>
          </p:spPr>
        </p:pic>
        <p:pic>
          <p:nvPicPr>
            <p:cNvPr id="73" name="Graphic 72" descr="User with solid fill">
              <a:extLst>
                <a:ext uri="{FF2B5EF4-FFF2-40B4-BE49-F238E27FC236}">
                  <a16:creationId xmlns:a16="http://schemas.microsoft.com/office/drawing/2014/main" id="{338B2F83-0700-5431-C9A0-B575B7AD087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822568" y="4188918"/>
              <a:ext cx="500743" cy="500743"/>
            </a:xfrm>
            <a:prstGeom prst="rect">
              <a:avLst/>
            </a:prstGeom>
          </p:spPr>
        </p:pic>
        <p:pic>
          <p:nvPicPr>
            <p:cNvPr id="74" name="Graphic 73" descr="User with solid fill">
              <a:extLst>
                <a:ext uri="{FF2B5EF4-FFF2-40B4-BE49-F238E27FC236}">
                  <a16:creationId xmlns:a16="http://schemas.microsoft.com/office/drawing/2014/main" id="{43978561-1D58-AA3D-CAF9-B782AE145DB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489780" y="4188918"/>
              <a:ext cx="500743" cy="500743"/>
            </a:xfrm>
            <a:prstGeom prst="rect">
              <a:avLst/>
            </a:prstGeom>
          </p:spPr>
        </p:pic>
        <p:pic>
          <p:nvPicPr>
            <p:cNvPr id="75" name="Graphic 74" descr="User with solid fill">
              <a:extLst>
                <a:ext uri="{FF2B5EF4-FFF2-40B4-BE49-F238E27FC236}">
                  <a16:creationId xmlns:a16="http://schemas.microsoft.com/office/drawing/2014/main" id="{2FB2A0D9-CF33-3814-AD58-467B340D4CA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2492816" y="4188917"/>
              <a:ext cx="500743" cy="500743"/>
            </a:xfrm>
            <a:prstGeom prst="rect">
              <a:avLst/>
            </a:prstGeom>
          </p:spPr>
        </p:pic>
        <p:pic>
          <p:nvPicPr>
            <p:cNvPr id="76" name="Graphic 75" descr="User with solid fill">
              <a:extLst>
                <a:ext uri="{FF2B5EF4-FFF2-40B4-BE49-F238E27FC236}">
                  <a16:creationId xmlns:a16="http://schemas.microsoft.com/office/drawing/2014/main" id="{E3A3453E-EC27-7D3D-6681-96FB5F3A28F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2158476" y="4188917"/>
              <a:ext cx="500743" cy="500743"/>
            </a:xfrm>
            <a:prstGeom prst="rect">
              <a:avLst/>
            </a:prstGeom>
          </p:spPr>
        </p:pic>
        <p:pic>
          <p:nvPicPr>
            <p:cNvPr id="77" name="Graphic 76" descr="User with solid fill">
              <a:extLst>
                <a:ext uri="{FF2B5EF4-FFF2-40B4-BE49-F238E27FC236}">
                  <a16:creationId xmlns:a16="http://schemas.microsoft.com/office/drawing/2014/main" id="{E52ECABA-41A7-1403-499E-2A632F386B7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827159" y="4188917"/>
              <a:ext cx="500743" cy="500743"/>
            </a:xfrm>
            <a:prstGeom prst="rect">
              <a:avLst/>
            </a:prstGeom>
          </p:spPr>
        </p:pic>
        <p:pic>
          <p:nvPicPr>
            <p:cNvPr id="78" name="Graphic 77" descr="User with solid fill">
              <a:extLst>
                <a:ext uri="{FF2B5EF4-FFF2-40B4-BE49-F238E27FC236}">
                  <a16:creationId xmlns:a16="http://schemas.microsoft.com/office/drawing/2014/main" id="{B701C695-DBB4-6C59-A065-A60AF213ED5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3166172" y="4192027"/>
              <a:ext cx="500743" cy="500743"/>
            </a:xfrm>
            <a:prstGeom prst="rect">
              <a:avLst/>
            </a:prstGeom>
          </p:spPr>
        </p:pic>
        <p:pic>
          <p:nvPicPr>
            <p:cNvPr id="79" name="Graphic 78" descr="User with solid fill">
              <a:extLst>
                <a:ext uri="{FF2B5EF4-FFF2-40B4-BE49-F238E27FC236}">
                  <a16:creationId xmlns:a16="http://schemas.microsoft.com/office/drawing/2014/main" id="{CC211E7F-D37E-D081-C21D-B8856000B6E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3497415" y="4195138"/>
              <a:ext cx="500743" cy="500743"/>
            </a:xfrm>
            <a:prstGeom prst="rect">
              <a:avLst/>
            </a:prstGeom>
          </p:spPr>
        </p:pic>
        <p:pic>
          <p:nvPicPr>
            <p:cNvPr id="80" name="Graphic 79" descr="User with solid fill">
              <a:extLst>
                <a:ext uri="{FF2B5EF4-FFF2-40B4-BE49-F238E27FC236}">
                  <a16:creationId xmlns:a16="http://schemas.microsoft.com/office/drawing/2014/main" id="{EC663462-105E-F257-AEB3-60AD6265E37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3822427" y="4195138"/>
              <a:ext cx="500743" cy="500743"/>
            </a:xfrm>
            <a:prstGeom prst="rect">
              <a:avLst/>
            </a:prstGeom>
          </p:spPr>
        </p:pic>
        <p:pic>
          <p:nvPicPr>
            <p:cNvPr id="81" name="Graphic 80" descr="User with solid fill">
              <a:extLst>
                <a:ext uri="{FF2B5EF4-FFF2-40B4-BE49-F238E27FC236}">
                  <a16:creationId xmlns:a16="http://schemas.microsoft.com/office/drawing/2014/main" id="{EA06A88B-DA35-D418-942F-B96BB89A7CF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152109" y="4188917"/>
              <a:ext cx="500743" cy="500743"/>
            </a:xfrm>
            <a:prstGeom prst="rect">
              <a:avLst/>
            </a:prstGeom>
          </p:spPr>
        </p:pic>
        <p:pic>
          <p:nvPicPr>
            <p:cNvPr id="82" name="Graphic 81" descr="User with solid fill">
              <a:extLst>
                <a:ext uri="{FF2B5EF4-FFF2-40B4-BE49-F238E27FC236}">
                  <a16:creationId xmlns:a16="http://schemas.microsoft.com/office/drawing/2014/main" id="{03D21B6F-0FC3-3400-F961-61BA8500BEF2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4483352" y="4188917"/>
              <a:ext cx="500743" cy="500743"/>
            </a:xfrm>
            <a:prstGeom prst="rect">
              <a:avLst/>
            </a:prstGeom>
          </p:spPr>
        </p:pic>
        <p:pic>
          <p:nvPicPr>
            <p:cNvPr id="83" name="Graphic 82" descr="User with solid fill">
              <a:extLst>
                <a:ext uri="{FF2B5EF4-FFF2-40B4-BE49-F238E27FC236}">
                  <a16:creationId xmlns:a16="http://schemas.microsoft.com/office/drawing/2014/main" id="{82FE3079-C3F7-E297-4AA2-807C0C889BA2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4814595" y="4192028"/>
              <a:ext cx="500743" cy="500743"/>
            </a:xfrm>
            <a:prstGeom prst="rect">
              <a:avLst/>
            </a:prstGeom>
          </p:spPr>
        </p:pic>
        <p:pic>
          <p:nvPicPr>
            <p:cNvPr id="84" name="Graphic 83" descr="User with solid fill">
              <a:extLst>
                <a:ext uri="{FF2B5EF4-FFF2-40B4-BE49-F238E27FC236}">
                  <a16:creationId xmlns:a16="http://schemas.microsoft.com/office/drawing/2014/main" id="{507DE04E-4FE8-0B93-5269-166CF075DDA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5148938" y="4192028"/>
              <a:ext cx="500743" cy="500743"/>
            </a:xfrm>
            <a:prstGeom prst="rect">
              <a:avLst/>
            </a:prstGeom>
          </p:spPr>
        </p:pic>
        <p:pic>
          <p:nvPicPr>
            <p:cNvPr id="85" name="Graphic 84" descr="User with solid fill">
              <a:extLst>
                <a:ext uri="{FF2B5EF4-FFF2-40B4-BE49-F238E27FC236}">
                  <a16:creationId xmlns:a16="http://schemas.microsoft.com/office/drawing/2014/main" id="{9402F088-D197-803E-6B90-BEA31EC9B11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156985" y="4676694"/>
              <a:ext cx="500743" cy="500743"/>
            </a:xfrm>
            <a:prstGeom prst="rect">
              <a:avLst/>
            </a:prstGeom>
          </p:spPr>
        </p:pic>
        <p:pic>
          <p:nvPicPr>
            <p:cNvPr id="86" name="Graphic 85" descr="User with solid fill">
              <a:extLst>
                <a:ext uri="{FF2B5EF4-FFF2-40B4-BE49-F238E27FC236}">
                  <a16:creationId xmlns:a16="http://schemas.microsoft.com/office/drawing/2014/main" id="{4ECC421B-249B-998D-8DFA-F167A3AC1B4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824200" y="4676694"/>
              <a:ext cx="500743" cy="500743"/>
            </a:xfrm>
            <a:prstGeom prst="rect">
              <a:avLst/>
            </a:prstGeom>
          </p:spPr>
        </p:pic>
        <p:pic>
          <p:nvPicPr>
            <p:cNvPr id="87" name="Graphic 86" descr="User with solid fill">
              <a:extLst>
                <a:ext uri="{FF2B5EF4-FFF2-40B4-BE49-F238E27FC236}">
                  <a16:creationId xmlns:a16="http://schemas.microsoft.com/office/drawing/2014/main" id="{0A5DBFEF-F621-5613-C31C-932F2D568FED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1822568" y="4676693"/>
              <a:ext cx="500743" cy="500743"/>
            </a:xfrm>
            <a:prstGeom prst="rect">
              <a:avLst/>
            </a:prstGeom>
          </p:spPr>
        </p:pic>
        <p:pic>
          <p:nvPicPr>
            <p:cNvPr id="88" name="Graphic 87" descr="User with solid fill">
              <a:extLst>
                <a:ext uri="{FF2B5EF4-FFF2-40B4-BE49-F238E27FC236}">
                  <a16:creationId xmlns:a16="http://schemas.microsoft.com/office/drawing/2014/main" id="{4C9791E6-E325-9340-E078-1867C35E5B5E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1489780" y="4676693"/>
              <a:ext cx="500743" cy="500743"/>
            </a:xfrm>
            <a:prstGeom prst="rect">
              <a:avLst/>
            </a:prstGeom>
          </p:spPr>
        </p:pic>
        <p:pic>
          <p:nvPicPr>
            <p:cNvPr id="89" name="Graphic 88" descr="User with solid fill">
              <a:extLst>
                <a:ext uri="{FF2B5EF4-FFF2-40B4-BE49-F238E27FC236}">
                  <a16:creationId xmlns:a16="http://schemas.microsoft.com/office/drawing/2014/main" id="{87E367CD-A792-9C0F-2121-2D54E7C8DB74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2492816" y="4676692"/>
              <a:ext cx="500743" cy="500743"/>
            </a:xfrm>
            <a:prstGeom prst="rect">
              <a:avLst/>
            </a:prstGeom>
          </p:spPr>
        </p:pic>
        <p:pic>
          <p:nvPicPr>
            <p:cNvPr id="90" name="Graphic 89" descr="User with solid fill">
              <a:extLst>
                <a:ext uri="{FF2B5EF4-FFF2-40B4-BE49-F238E27FC236}">
                  <a16:creationId xmlns:a16="http://schemas.microsoft.com/office/drawing/2014/main" id="{7FDBEE7F-AA60-A9F0-9E90-CA4CD822534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158476" y="4676692"/>
              <a:ext cx="500743" cy="500743"/>
            </a:xfrm>
            <a:prstGeom prst="rect">
              <a:avLst/>
            </a:prstGeom>
          </p:spPr>
        </p:pic>
        <p:pic>
          <p:nvPicPr>
            <p:cNvPr id="91" name="Graphic 90" descr="User with solid fill">
              <a:extLst>
                <a:ext uri="{FF2B5EF4-FFF2-40B4-BE49-F238E27FC236}">
                  <a16:creationId xmlns:a16="http://schemas.microsoft.com/office/drawing/2014/main" id="{426720D1-D6C6-A4C2-A55B-0469019AA74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2827159" y="4676692"/>
              <a:ext cx="500743" cy="500743"/>
            </a:xfrm>
            <a:prstGeom prst="rect">
              <a:avLst/>
            </a:prstGeom>
          </p:spPr>
        </p:pic>
        <p:pic>
          <p:nvPicPr>
            <p:cNvPr id="92" name="Graphic 91" descr="User with solid fill">
              <a:extLst>
                <a:ext uri="{FF2B5EF4-FFF2-40B4-BE49-F238E27FC236}">
                  <a16:creationId xmlns:a16="http://schemas.microsoft.com/office/drawing/2014/main" id="{B743FB73-BDD9-B0C1-1349-2BAAF9A5B6C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3166172" y="4679802"/>
              <a:ext cx="500743" cy="500743"/>
            </a:xfrm>
            <a:prstGeom prst="rect">
              <a:avLst/>
            </a:prstGeom>
          </p:spPr>
        </p:pic>
        <p:pic>
          <p:nvPicPr>
            <p:cNvPr id="93" name="Graphic 92" descr="User with solid fill">
              <a:extLst>
                <a:ext uri="{FF2B5EF4-FFF2-40B4-BE49-F238E27FC236}">
                  <a16:creationId xmlns:a16="http://schemas.microsoft.com/office/drawing/2014/main" id="{BE6A63A3-1F46-9608-88C1-D4BB154B0BA4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3497415" y="4673582"/>
              <a:ext cx="500743" cy="500743"/>
            </a:xfrm>
            <a:prstGeom prst="rect">
              <a:avLst/>
            </a:prstGeom>
          </p:spPr>
        </p:pic>
        <p:pic>
          <p:nvPicPr>
            <p:cNvPr id="94" name="Graphic 93" descr="User with solid fill">
              <a:extLst>
                <a:ext uri="{FF2B5EF4-FFF2-40B4-BE49-F238E27FC236}">
                  <a16:creationId xmlns:a16="http://schemas.microsoft.com/office/drawing/2014/main" id="{F383A569-78E1-114A-BCFD-B3CB9542795C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3822427" y="4673582"/>
              <a:ext cx="500743" cy="500743"/>
            </a:xfrm>
            <a:prstGeom prst="rect">
              <a:avLst/>
            </a:prstGeom>
          </p:spPr>
        </p:pic>
        <p:pic>
          <p:nvPicPr>
            <p:cNvPr id="95" name="Graphic 94" descr="User with solid fill">
              <a:extLst>
                <a:ext uri="{FF2B5EF4-FFF2-40B4-BE49-F238E27FC236}">
                  <a16:creationId xmlns:a16="http://schemas.microsoft.com/office/drawing/2014/main" id="{ED359119-35AE-FC1E-6FB6-353FCE1CC02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152109" y="4676692"/>
              <a:ext cx="500743" cy="500743"/>
            </a:xfrm>
            <a:prstGeom prst="rect">
              <a:avLst/>
            </a:prstGeom>
          </p:spPr>
        </p:pic>
        <p:pic>
          <p:nvPicPr>
            <p:cNvPr id="96" name="Graphic 95" descr="User with solid fill">
              <a:extLst>
                <a:ext uri="{FF2B5EF4-FFF2-40B4-BE49-F238E27FC236}">
                  <a16:creationId xmlns:a16="http://schemas.microsoft.com/office/drawing/2014/main" id="{B4F77B6A-91FA-EFFB-5834-DF3FC26F8DA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4483352" y="4676692"/>
              <a:ext cx="500743" cy="500743"/>
            </a:xfrm>
            <a:prstGeom prst="rect">
              <a:avLst/>
            </a:prstGeom>
          </p:spPr>
        </p:pic>
        <p:pic>
          <p:nvPicPr>
            <p:cNvPr id="97" name="Graphic 96" descr="User with solid fill">
              <a:extLst>
                <a:ext uri="{FF2B5EF4-FFF2-40B4-BE49-F238E27FC236}">
                  <a16:creationId xmlns:a16="http://schemas.microsoft.com/office/drawing/2014/main" id="{4005DD6E-26B8-B72C-24F4-09205EFF837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4814595" y="4679803"/>
              <a:ext cx="500743" cy="500743"/>
            </a:xfrm>
            <a:prstGeom prst="rect">
              <a:avLst/>
            </a:prstGeom>
          </p:spPr>
        </p:pic>
        <p:pic>
          <p:nvPicPr>
            <p:cNvPr id="98" name="Graphic 97" descr="User with solid fill">
              <a:extLst>
                <a:ext uri="{FF2B5EF4-FFF2-40B4-BE49-F238E27FC236}">
                  <a16:creationId xmlns:a16="http://schemas.microsoft.com/office/drawing/2014/main" id="{064D91A0-BD4B-0763-7BC8-B21AC49A410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5148938" y="4679803"/>
              <a:ext cx="500743" cy="500743"/>
            </a:xfrm>
            <a:prstGeom prst="rect">
              <a:avLst/>
            </a:prstGeom>
          </p:spPr>
        </p:pic>
        <p:pic>
          <p:nvPicPr>
            <p:cNvPr id="99" name="Graphic 98" descr="User with solid fill">
              <a:extLst>
                <a:ext uri="{FF2B5EF4-FFF2-40B4-BE49-F238E27FC236}">
                  <a16:creationId xmlns:a16="http://schemas.microsoft.com/office/drawing/2014/main" id="{5C850AD8-708B-6702-CDEA-859FA2529E9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156985" y="5182074"/>
              <a:ext cx="500743" cy="500743"/>
            </a:xfrm>
            <a:prstGeom prst="rect">
              <a:avLst/>
            </a:prstGeom>
          </p:spPr>
        </p:pic>
        <p:pic>
          <p:nvPicPr>
            <p:cNvPr id="100" name="Graphic 99" descr="User with solid fill">
              <a:extLst>
                <a:ext uri="{FF2B5EF4-FFF2-40B4-BE49-F238E27FC236}">
                  <a16:creationId xmlns:a16="http://schemas.microsoft.com/office/drawing/2014/main" id="{62AC9B97-B87F-71E3-A115-ED352FB22141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824200" y="5182074"/>
              <a:ext cx="500743" cy="500743"/>
            </a:xfrm>
            <a:prstGeom prst="rect">
              <a:avLst/>
            </a:prstGeom>
          </p:spPr>
        </p:pic>
        <p:pic>
          <p:nvPicPr>
            <p:cNvPr id="101" name="Graphic 100" descr="User with solid fill">
              <a:extLst>
                <a:ext uri="{FF2B5EF4-FFF2-40B4-BE49-F238E27FC236}">
                  <a16:creationId xmlns:a16="http://schemas.microsoft.com/office/drawing/2014/main" id="{91897405-E50D-C421-B8AB-BD763FCB25FD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1822568" y="5182073"/>
              <a:ext cx="500743" cy="500743"/>
            </a:xfrm>
            <a:prstGeom prst="rect">
              <a:avLst/>
            </a:prstGeom>
          </p:spPr>
        </p:pic>
        <p:pic>
          <p:nvPicPr>
            <p:cNvPr id="102" name="Graphic 101" descr="User with solid fill">
              <a:extLst>
                <a:ext uri="{FF2B5EF4-FFF2-40B4-BE49-F238E27FC236}">
                  <a16:creationId xmlns:a16="http://schemas.microsoft.com/office/drawing/2014/main" id="{79F2A521-28F7-5914-92FD-68C47C917F8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489780" y="5182073"/>
              <a:ext cx="500743" cy="500743"/>
            </a:xfrm>
            <a:prstGeom prst="rect">
              <a:avLst/>
            </a:prstGeom>
          </p:spPr>
        </p:pic>
        <p:pic>
          <p:nvPicPr>
            <p:cNvPr id="103" name="Graphic 102" descr="User with solid fill">
              <a:extLst>
                <a:ext uri="{FF2B5EF4-FFF2-40B4-BE49-F238E27FC236}">
                  <a16:creationId xmlns:a16="http://schemas.microsoft.com/office/drawing/2014/main" id="{715404E4-74E7-7313-569B-981462C3BC7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2492816" y="5182072"/>
              <a:ext cx="500743" cy="500743"/>
            </a:xfrm>
            <a:prstGeom prst="rect">
              <a:avLst/>
            </a:prstGeom>
          </p:spPr>
        </p:pic>
        <p:pic>
          <p:nvPicPr>
            <p:cNvPr id="104" name="Graphic 103" descr="User with solid fill">
              <a:extLst>
                <a:ext uri="{FF2B5EF4-FFF2-40B4-BE49-F238E27FC236}">
                  <a16:creationId xmlns:a16="http://schemas.microsoft.com/office/drawing/2014/main" id="{0597FCD4-3A05-A257-897B-B63C5258EB5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158476" y="5182072"/>
              <a:ext cx="500743" cy="500743"/>
            </a:xfrm>
            <a:prstGeom prst="rect">
              <a:avLst/>
            </a:prstGeom>
          </p:spPr>
        </p:pic>
        <p:pic>
          <p:nvPicPr>
            <p:cNvPr id="105" name="Graphic 104" descr="User with solid fill">
              <a:extLst>
                <a:ext uri="{FF2B5EF4-FFF2-40B4-BE49-F238E27FC236}">
                  <a16:creationId xmlns:a16="http://schemas.microsoft.com/office/drawing/2014/main" id="{D30E9A91-60E4-72B5-3AB8-C431A89AE2F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2827159" y="5182072"/>
              <a:ext cx="500743" cy="500743"/>
            </a:xfrm>
            <a:prstGeom prst="rect">
              <a:avLst/>
            </a:prstGeom>
          </p:spPr>
        </p:pic>
        <p:pic>
          <p:nvPicPr>
            <p:cNvPr id="106" name="Graphic 105" descr="User with solid fill">
              <a:extLst>
                <a:ext uri="{FF2B5EF4-FFF2-40B4-BE49-F238E27FC236}">
                  <a16:creationId xmlns:a16="http://schemas.microsoft.com/office/drawing/2014/main" id="{A06AFA89-B58B-919E-B8A8-97A8FDE50CF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166172" y="5185182"/>
              <a:ext cx="500743" cy="500743"/>
            </a:xfrm>
            <a:prstGeom prst="rect">
              <a:avLst/>
            </a:prstGeom>
          </p:spPr>
        </p:pic>
        <p:pic>
          <p:nvPicPr>
            <p:cNvPr id="107" name="Graphic 106" descr="User with solid fill">
              <a:extLst>
                <a:ext uri="{FF2B5EF4-FFF2-40B4-BE49-F238E27FC236}">
                  <a16:creationId xmlns:a16="http://schemas.microsoft.com/office/drawing/2014/main" id="{0A9376C0-2991-1748-B0CF-154449BC173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3497415" y="5178962"/>
              <a:ext cx="500743" cy="500743"/>
            </a:xfrm>
            <a:prstGeom prst="rect">
              <a:avLst/>
            </a:prstGeom>
          </p:spPr>
        </p:pic>
        <p:pic>
          <p:nvPicPr>
            <p:cNvPr id="108" name="Graphic 107" descr="User with solid fill">
              <a:extLst>
                <a:ext uri="{FF2B5EF4-FFF2-40B4-BE49-F238E27FC236}">
                  <a16:creationId xmlns:a16="http://schemas.microsoft.com/office/drawing/2014/main" id="{011D1D88-6B2E-A623-F5B5-36081842F3B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822427" y="5178962"/>
              <a:ext cx="500743" cy="500743"/>
            </a:xfrm>
            <a:prstGeom prst="rect">
              <a:avLst/>
            </a:prstGeom>
          </p:spPr>
        </p:pic>
        <p:pic>
          <p:nvPicPr>
            <p:cNvPr id="109" name="Graphic 108" descr="User with solid fill">
              <a:extLst>
                <a:ext uri="{FF2B5EF4-FFF2-40B4-BE49-F238E27FC236}">
                  <a16:creationId xmlns:a16="http://schemas.microsoft.com/office/drawing/2014/main" id="{42474C3C-A2B3-0BE7-1815-90502616FF5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4152109" y="5182072"/>
              <a:ext cx="500743" cy="500743"/>
            </a:xfrm>
            <a:prstGeom prst="rect">
              <a:avLst/>
            </a:prstGeom>
          </p:spPr>
        </p:pic>
        <p:pic>
          <p:nvPicPr>
            <p:cNvPr id="110" name="Graphic 109" descr="User with solid fill">
              <a:extLst>
                <a:ext uri="{FF2B5EF4-FFF2-40B4-BE49-F238E27FC236}">
                  <a16:creationId xmlns:a16="http://schemas.microsoft.com/office/drawing/2014/main" id="{36A9FF6B-5BAA-3AF0-88A9-CDFB1544BBF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4483352" y="5182072"/>
              <a:ext cx="500743" cy="500743"/>
            </a:xfrm>
            <a:prstGeom prst="rect">
              <a:avLst/>
            </a:prstGeom>
          </p:spPr>
        </p:pic>
        <p:pic>
          <p:nvPicPr>
            <p:cNvPr id="111" name="Graphic 110" descr="User with solid fill">
              <a:extLst>
                <a:ext uri="{FF2B5EF4-FFF2-40B4-BE49-F238E27FC236}">
                  <a16:creationId xmlns:a16="http://schemas.microsoft.com/office/drawing/2014/main" id="{DECA8B0E-8A85-5CFC-3AE3-4F0427D4A9FD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4814595" y="5185183"/>
              <a:ext cx="500743" cy="500743"/>
            </a:xfrm>
            <a:prstGeom prst="rect">
              <a:avLst/>
            </a:prstGeom>
          </p:spPr>
        </p:pic>
        <p:pic>
          <p:nvPicPr>
            <p:cNvPr id="112" name="Graphic 111" descr="User with solid fill">
              <a:extLst>
                <a:ext uri="{FF2B5EF4-FFF2-40B4-BE49-F238E27FC236}">
                  <a16:creationId xmlns:a16="http://schemas.microsoft.com/office/drawing/2014/main" id="{42B77149-2ACD-6DCB-58EC-8DD66E19C59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5148938" y="5185183"/>
              <a:ext cx="500743" cy="500743"/>
            </a:xfrm>
            <a:prstGeom prst="rect">
              <a:avLst/>
            </a:prstGeom>
          </p:spPr>
        </p:pic>
        <p:pic>
          <p:nvPicPr>
            <p:cNvPr id="113" name="Graphic 112" descr="User with solid fill">
              <a:extLst>
                <a:ext uri="{FF2B5EF4-FFF2-40B4-BE49-F238E27FC236}">
                  <a16:creationId xmlns:a16="http://schemas.microsoft.com/office/drawing/2014/main" id="{91C08761-F8CA-44DB-6301-4942E150513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164751" y="5692403"/>
              <a:ext cx="500743" cy="500743"/>
            </a:xfrm>
            <a:prstGeom prst="rect">
              <a:avLst/>
            </a:prstGeom>
          </p:spPr>
        </p:pic>
        <p:pic>
          <p:nvPicPr>
            <p:cNvPr id="114" name="Graphic 113" descr="User with solid fill">
              <a:extLst>
                <a:ext uri="{FF2B5EF4-FFF2-40B4-BE49-F238E27FC236}">
                  <a16:creationId xmlns:a16="http://schemas.microsoft.com/office/drawing/2014/main" id="{F9AA771C-B2CD-36C9-5E8B-12D5E89D48A1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831966" y="5692403"/>
              <a:ext cx="500743" cy="500743"/>
            </a:xfrm>
            <a:prstGeom prst="rect">
              <a:avLst/>
            </a:prstGeom>
          </p:spPr>
        </p:pic>
        <p:pic>
          <p:nvPicPr>
            <p:cNvPr id="115" name="Graphic 114" descr="User with solid fill">
              <a:extLst>
                <a:ext uri="{FF2B5EF4-FFF2-40B4-BE49-F238E27FC236}">
                  <a16:creationId xmlns:a16="http://schemas.microsoft.com/office/drawing/2014/main" id="{23A420EE-B1E1-8F83-25E3-2314A78A4D3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1830334" y="5692402"/>
              <a:ext cx="500743" cy="500743"/>
            </a:xfrm>
            <a:prstGeom prst="rect">
              <a:avLst/>
            </a:prstGeom>
          </p:spPr>
        </p:pic>
        <p:pic>
          <p:nvPicPr>
            <p:cNvPr id="116" name="Graphic 115" descr="User with solid fill">
              <a:extLst>
                <a:ext uri="{FF2B5EF4-FFF2-40B4-BE49-F238E27FC236}">
                  <a16:creationId xmlns:a16="http://schemas.microsoft.com/office/drawing/2014/main" id="{E766028C-EB97-E403-E90B-BB6EFEF3AF5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497546" y="5692402"/>
              <a:ext cx="500743" cy="500743"/>
            </a:xfrm>
            <a:prstGeom prst="rect">
              <a:avLst/>
            </a:prstGeom>
          </p:spPr>
        </p:pic>
        <p:pic>
          <p:nvPicPr>
            <p:cNvPr id="117" name="Graphic 116" descr="User with solid fill">
              <a:extLst>
                <a:ext uri="{FF2B5EF4-FFF2-40B4-BE49-F238E27FC236}">
                  <a16:creationId xmlns:a16="http://schemas.microsoft.com/office/drawing/2014/main" id="{7A6BCBE3-6D11-6F52-F8F4-D38096D284F2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2500582" y="5692401"/>
              <a:ext cx="500743" cy="500743"/>
            </a:xfrm>
            <a:prstGeom prst="rect">
              <a:avLst/>
            </a:prstGeom>
          </p:spPr>
        </p:pic>
        <p:pic>
          <p:nvPicPr>
            <p:cNvPr id="118" name="Graphic 117" descr="User with solid fill">
              <a:extLst>
                <a:ext uri="{FF2B5EF4-FFF2-40B4-BE49-F238E27FC236}">
                  <a16:creationId xmlns:a16="http://schemas.microsoft.com/office/drawing/2014/main" id="{15A7D9E9-712A-C1DA-5F56-529C98444EE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166242" y="5692401"/>
              <a:ext cx="500743" cy="500743"/>
            </a:xfrm>
            <a:prstGeom prst="rect">
              <a:avLst/>
            </a:prstGeom>
          </p:spPr>
        </p:pic>
        <p:pic>
          <p:nvPicPr>
            <p:cNvPr id="119" name="Graphic 118" descr="User with solid fill">
              <a:extLst>
                <a:ext uri="{FF2B5EF4-FFF2-40B4-BE49-F238E27FC236}">
                  <a16:creationId xmlns:a16="http://schemas.microsoft.com/office/drawing/2014/main" id="{F5061B3D-F54B-8100-0B01-B05DA77260EE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2834925" y="5692401"/>
              <a:ext cx="500743" cy="500743"/>
            </a:xfrm>
            <a:prstGeom prst="rect">
              <a:avLst/>
            </a:prstGeom>
          </p:spPr>
        </p:pic>
        <p:pic>
          <p:nvPicPr>
            <p:cNvPr id="120" name="Graphic 119" descr="User with solid fill">
              <a:extLst>
                <a:ext uri="{FF2B5EF4-FFF2-40B4-BE49-F238E27FC236}">
                  <a16:creationId xmlns:a16="http://schemas.microsoft.com/office/drawing/2014/main" id="{73579999-0350-EC7E-1BBB-15231C077E4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3164607" y="5695511"/>
              <a:ext cx="500743" cy="500743"/>
            </a:xfrm>
            <a:prstGeom prst="rect">
              <a:avLst/>
            </a:prstGeom>
          </p:spPr>
        </p:pic>
        <p:pic>
          <p:nvPicPr>
            <p:cNvPr id="121" name="Graphic 120" descr="User with solid fill">
              <a:extLst>
                <a:ext uri="{FF2B5EF4-FFF2-40B4-BE49-F238E27FC236}">
                  <a16:creationId xmlns:a16="http://schemas.microsoft.com/office/drawing/2014/main" id="{A58CF148-642C-AF0C-A980-623163989EF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3495850" y="5698622"/>
              <a:ext cx="500743" cy="500743"/>
            </a:xfrm>
            <a:prstGeom prst="rect">
              <a:avLst/>
            </a:prstGeom>
          </p:spPr>
        </p:pic>
        <p:pic>
          <p:nvPicPr>
            <p:cNvPr id="122" name="Graphic 121" descr="User with solid fill">
              <a:extLst>
                <a:ext uri="{FF2B5EF4-FFF2-40B4-BE49-F238E27FC236}">
                  <a16:creationId xmlns:a16="http://schemas.microsoft.com/office/drawing/2014/main" id="{F50EF9D1-58A5-1C76-248F-C86625C22DBA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3830193" y="5698622"/>
              <a:ext cx="500743" cy="500743"/>
            </a:xfrm>
            <a:prstGeom prst="rect">
              <a:avLst/>
            </a:prstGeom>
          </p:spPr>
        </p:pic>
        <p:pic>
          <p:nvPicPr>
            <p:cNvPr id="123" name="Graphic 122" descr="User with solid fill">
              <a:extLst>
                <a:ext uri="{FF2B5EF4-FFF2-40B4-BE49-F238E27FC236}">
                  <a16:creationId xmlns:a16="http://schemas.microsoft.com/office/drawing/2014/main" id="{8DFEFEFD-16A3-796B-8CB6-81E437E961C0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4159875" y="5692401"/>
              <a:ext cx="500743" cy="500743"/>
            </a:xfrm>
            <a:prstGeom prst="rect">
              <a:avLst/>
            </a:prstGeom>
          </p:spPr>
        </p:pic>
        <p:pic>
          <p:nvPicPr>
            <p:cNvPr id="124" name="Graphic 123" descr="User with solid fill">
              <a:extLst>
                <a:ext uri="{FF2B5EF4-FFF2-40B4-BE49-F238E27FC236}">
                  <a16:creationId xmlns:a16="http://schemas.microsoft.com/office/drawing/2014/main" id="{258AD98C-D8F7-81FB-D80E-038DB9490E0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491118" y="5692401"/>
              <a:ext cx="500743" cy="500743"/>
            </a:xfrm>
            <a:prstGeom prst="rect">
              <a:avLst/>
            </a:prstGeom>
          </p:spPr>
        </p:pic>
        <p:pic>
          <p:nvPicPr>
            <p:cNvPr id="125" name="Graphic 124" descr="User with solid fill">
              <a:extLst>
                <a:ext uri="{FF2B5EF4-FFF2-40B4-BE49-F238E27FC236}">
                  <a16:creationId xmlns:a16="http://schemas.microsoft.com/office/drawing/2014/main" id="{9375FC66-0597-C67E-7611-EE1D12CC136A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4822361" y="5695512"/>
              <a:ext cx="500743" cy="500743"/>
            </a:xfrm>
            <a:prstGeom prst="rect">
              <a:avLst/>
            </a:prstGeom>
          </p:spPr>
        </p:pic>
        <p:pic>
          <p:nvPicPr>
            <p:cNvPr id="126" name="Graphic 125" descr="User with solid fill">
              <a:extLst>
                <a:ext uri="{FF2B5EF4-FFF2-40B4-BE49-F238E27FC236}">
                  <a16:creationId xmlns:a16="http://schemas.microsoft.com/office/drawing/2014/main" id="{FD80AAC1-58E7-1DBB-B7CE-DCFD7D3296E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5147373" y="5695512"/>
              <a:ext cx="500743" cy="500743"/>
            </a:xfrm>
            <a:prstGeom prst="rect">
              <a:avLst/>
            </a:prstGeom>
          </p:spPr>
        </p:pic>
      </p:grpSp>
      <p:pic>
        <p:nvPicPr>
          <p:cNvPr id="133" name="Graphic 132" descr="User with solid fill">
            <a:extLst>
              <a:ext uri="{FF2B5EF4-FFF2-40B4-BE49-F238E27FC236}">
                <a16:creationId xmlns:a16="http://schemas.microsoft.com/office/drawing/2014/main" id="{075394F5-9FEC-6A54-648B-A3DE8C9A1B0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483555" y="4701006"/>
            <a:ext cx="500743" cy="500743"/>
          </a:xfrm>
          <a:prstGeom prst="rect">
            <a:avLst/>
          </a:prstGeom>
        </p:spPr>
      </p:pic>
      <p:pic>
        <p:nvPicPr>
          <p:cNvPr id="134" name="Graphic 133" descr="User with solid fill">
            <a:extLst>
              <a:ext uri="{FF2B5EF4-FFF2-40B4-BE49-F238E27FC236}">
                <a16:creationId xmlns:a16="http://schemas.microsoft.com/office/drawing/2014/main" id="{524BB9D0-0C8E-AC8B-BE5B-80BF7993114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589789" y="3813583"/>
            <a:ext cx="500743" cy="500743"/>
          </a:xfrm>
          <a:prstGeom prst="rect">
            <a:avLst/>
          </a:prstGeom>
        </p:spPr>
      </p:pic>
      <p:pic>
        <p:nvPicPr>
          <p:cNvPr id="135" name="Graphic 134" descr="User with solid fill">
            <a:extLst>
              <a:ext uri="{FF2B5EF4-FFF2-40B4-BE49-F238E27FC236}">
                <a16:creationId xmlns:a16="http://schemas.microsoft.com/office/drawing/2014/main" id="{21DC9EA1-2056-316B-6B1F-2474A4ADA13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483556" y="3824727"/>
            <a:ext cx="500743" cy="500743"/>
          </a:xfrm>
          <a:prstGeom prst="rect">
            <a:avLst/>
          </a:prstGeom>
        </p:spPr>
      </p:pic>
      <p:pic>
        <p:nvPicPr>
          <p:cNvPr id="136" name="Graphic 135" descr="User with solid fill">
            <a:extLst>
              <a:ext uri="{FF2B5EF4-FFF2-40B4-BE49-F238E27FC236}">
                <a16:creationId xmlns:a16="http://schemas.microsoft.com/office/drawing/2014/main" id="{9E210BA8-8A2C-AB59-1B97-86C95FC7E87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066499" y="4200263"/>
            <a:ext cx="500743" cy="500743"/>
          </a:xfrm>
          <a:prstGeom prst="rect">
            <a:avLst/>
          </a:prstGeom>
        </p:spPr>
      </p:pic>
      <p:pic>
        <p:nvPicPr>
          <p:cNvPr id="137" name="Graphic 136" descr="User with solid fill">
            <a:extLst>
              <a:ext uri="{FF2B5EF4-FFF2-40B4-BE49-F238E27FC236}">
                <a16:creationId xmlns:a16="http://schemas.microsoft.com/office/drawing/2014/main" id="{B63E5D0D-D106-B941-9171-54D280F3D2B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948527" y="4201319"/>
            <a:ext cx="500743" cy="500743"/>
          </a:xfrm>
          <a:prstGeom prst="rect">
            <a:avLst/>
          </a:prstGeom>
        </p:spPr>
      </p:pic>
      <p:pic>
        <p:nvPicPr>
          <p:cNvPr id="138" name="Graphic 137" descr="User with solid fill">
            <a:extLst>
              <a:ext uri="{FF2B5EF4-FFF2-40B4-BE49-F238E27FC236}">
                <a16:creationId xmlns:a16="http://schemas.microsoft.com/office/drawing/2014/main" id="{0085DAB1-9F07-6D6F-988A-C2796C1E92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004602" y="4201318"/>
            <a:ext cx="500743" cy="500743"/>
          </a:xfrm>
          <a:prstGeom prst="rect">
            <a:avLst/>
          </a:prstGeom>
        </p:spPr>
      </p:pic>
      <p:pic>
        <p:nvPicPr>
          <p:cNvPr id="139" name="Graphic 138" descr="User with solid fill">
            <a:extLst>
              <a:ext uri="{FF2B5EF4-FFF2-40B4-BE49-F238E27FC236}">
                <a16:creationId xmlns:a16="http://schemas.microsoft.com/office/drawing/2014/main" id="{2C65A56E-AFD9-125E-9EA3-0487A05C90E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587515" y="4696811"/>
            <a:ext cx="500743" cy="500743"/>
          </a:xfrm>
          <a:prstGeom prst="rect">
            <a:avLst/>
          </a:prstGeom>
        </p:spPr>
      </p:pic>
      <p:pic>
        <p:nvPicPr>
          <p:cNvPr id="140" name="Graphic 139" descr="User with solid fill">
            <a:extLst>
              <a:ext uri="{FF2B5EF4-FFF2-40B4-BE49-F238E27FC236}">
                <a16:creationId xmlns:a16="http://schemas.microsoft.com/office/drawing/2014/main" id="{E8B03E4D-B81A-D063-6F32-749912E1338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547376" y="4700479"/>
            <a:ext cx="500743" cy="500743"/>
          </a:xfrm>
          <a:prstGeom prst="rect">
            <a:avLst/>
          </a:prstGeom>
        </p:spPr>
      </p:pic>
      <p:pic>
        <p:nvPicPr>
          <p:cNvPr id="141" name="Graphic 140" descr="User with solid fill">
            <a:extLst>
              <a:ext uri="{FF2B5EF4-FFF2-40B4-BE49-F238E27FC236}">
                <a16:creationId xmlns:a16="http://schemas.microsoft.com/office/drawing/2014/main" id="{8F91414A-89B5-39F8-7231-FA2DC8880A7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538851" y="3824726"/>
            <a:ext cx="500743" cy="500743"/>
          </a:xfrm>
          <a:prstGeom prst="rect">
            <a:avLst/>
          </a:prstGeom>
        </p:spPr>
      </p:pic>
      <p:pic>
        <p:nvPicPr>
          <p:cNvPr id="142" name="Graphic 141" descr="User with solid fill">
            <a:extLst>
              <a:ext uri="{FF2B5EF4-FFF2-40B4-BE49-F238E27FC236}">
                <a16:creationId xmlns:a16="http://schemas.microsoft.com/office/drawing/2014/main" id="{BA708F32-08EE-D92E-8078-09B37FFCB9C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089480" y="4207539"/>
            <a:ext cx="500743" cy="500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15149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309D25D-E10B-4834-F987-8FAB6C532C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buClrTx/>
            </a:pPr>
            <a:r>
              <a:rPr lang="en-GB" dirty="0"/>
              <a:t>Is the sample randomly selected? </a:t>
            </a:r>
            <a:br>
              <a:rPr lang="en-GB" dirty="0"/>
            </a:br>
            <a:r>
              <a:rPr lang="en-GB" dirty="0"/>
              <a:t>Is it representative?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2F0416E-E42A-973D-65B8-9178D3FF7A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560" y="2470937"/>
            <a:ext cx="5387975" cy="823912"/>
          </a:xfrm>
          <a:ln>
            <a:solidFill>
              <a:schemeClr val="tx1"/>
            </a:solidFill>
          </a:ln>
        </p:spPr>
        <p:txBody>
          <a:bodyPr anchor="ctr"/>
          <a:lstStyle/>
          <a:p>
            <a:pPr algn="ctr"/>
            <a:r>
              <a:rPr lang="en-GB" b="1" dirty="0"/>
              <a:t>Population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4191E63-CAD6-F1FA-7777-52D743F5481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03467" y="2470937"/>
            <a:ext cx="5414510" cy="823912"/>
          </a:xfrm>
          <a:ln>
            <a:solidFill>
              <a:schemeClr val="tx1"/>
            </a:solidFill>
          </a:ln>
        </p:spPr>
        <p:txBody>
          <a:bodyPr anchor="ctr"/>
          <a:lstStyle/>
          <a:p>
            <a:pPr algn="ctr"/>
            <a:r>
              <a:rPr lang="en-GB" b="1" dirty="0"/>
              <a:t>Sample</a:t>
            </a:r>
          </a:p>
        </p:txBody>
      </p:sp>
      <p:grpSp>
        <p:nvGrpSpPr>
          <p:cNvPr id="70" name="Group 69">
            <a:extLst>
              <a:ext uri="{FF2B5EF4-FFF2-40B4-BE49-F238E27FC236}">
                <a16:creationId xmlns:a16="http://schemas.microsoft.com/office/drawing/2014/main" id="{40BE1EC7-3E71-CC6C-CF4F-2257C2469437}"/>
              </a:ext>
            </a:extLst>
          </p:cNvPr>
          <p:cNvGrpSpPr/>
          <p:nvPr/>
        </p:nvGrpSpPr>
        <p:grpSpPr>
          <a:xfrm>
            <a:off x="890846" y="3510713"/>
            <a:ext cx="4825481" cy="2010448"/>
            <a:chOff x="824200" y="4188917"/>
            <a:chExt cx="4825481" cy="2010448"/>
          </a:xfrm>
        </p:grpSpPr>
        <p:pic>
          <p:nvPicPr>
            <p:cNvPr id="71" name="Graphic 70" descr="User with solid fill">
              <a:extLst>
                <a:ext uri="{FF2B5EF4-FFF2-40B4-BE49-F238E27FC236}">
                  <a16:creationId xmlns:a16="http://schemas.microsoft.com/office/drawing/2014/main" id="{71C9415D-D411-B0D8-B66D-6EC9D583F31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156985" y="4188919"/>
              <a:ext cx="500743" cy="500743"/>
            </a:xfrm>
            <a:prstGeom prst="rect">
              <a:avLst/>
            </a:prstGeom>
          </p:spPr>
        </p:pic>
        <p:pic>
          <p:nvPicPr>
            <p:cNvPr id="72" name="Graphic 71" descr="User with solid fill">
              <a:extLst>
                <a:ext uri="{FF2B5EF4-FFF2-40B4-BE49-F238E27FC236}">
                  <a16:creationId xmlns:a16="http://schemas.microsoft.com/office/drawing/2014/main" id="{1439CCE7-C4BB-8C0A-ABE2-DD5F813CC18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824200" y="4188919"/>
              <a:ext cx="500743" cy="500743"/>
            </a:xfrm>
            <a:prstGeom prst="rect">
              <a:avLst/>
            </a:prstGeom>
          </p:spPr>
        </p:pic>
        <p:pic>
          <p:nvPicPr>
            <p:cNvPr id="73" name="Graphic 72" descr="User with solid fill">
              <a:extLst>
                <a:ext uri="{FF2B5EF4-FFF2-40B4-BE49-F238E27FC236}">
                  <a16:creationId xmlns:a16="http://schemas.microsoft.com/office/drawing/2014/main" id="{338B2F83-0700-5431-C9A0-B575B7AD087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822568" y="4188918"/>
              <a:ext cx="500743" cy="500743"/>
            </a:xfrm>
            <a:prstGeom prst="rect">
              <a:avLst/>
            </a:prstGeom>
          </p:spPr>
        </p:pic>
        <p:pic>
          <p:nvPicPr>
            <p:cNvPr id="74" name="Graphic 73" descr="User with solid fill">
              <a:extLst>
                <a:ext uri="{FF2B5EF4-FFF2-40B4-BE49-F238E27FC236}">
                  <a16:creationId xmlns:a16="http://schemas.microsoft.com/office/drawing/2014/main" id="{43978561-1D58-AA3D-CAF9-B782AE145DB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489780" y="4188918"/>
              <a:ext cx="500743" cy="500743"/>
            </a:xfrm>
            <a:prstGeom prst="rect">
              <a:avLst/>
            </a:prstGeom>
          </p:spPr>
        </p:pic>
        <p:pic>
          <p:nvPicPr>
            <p:cNvPr id="75" name="Graphic 74" descr="User with solid fill">
              <a:extLst>
                <a:ext uri="{FF2B5EF4-FFF2-40B4-BE49-F238E27FC236}">
                  <a16:creationId xmlns:a16="http://schemas.microsoft.com/office/drawing/2014/main" id="{2FB2A0D9-CF33-3814-AD58-467B340D4CA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2492816" y="4188917"/>
              <a:ext cx="500743" cy="500743"/>
            </a:xfrm>
            <a:prstGeom prst="rect">
              <a:avLst/>
            </a:prstGeom>
          </p:spPr>
        </p:pic>
        <p:pic>
          <p:nvPicPr>
            <p:cNvPr id="76" name="Graphic 75" descr="User with solid fill">
              <a:extLst>
                <a:ext uri="{FF2B5EF4-FFF2-40B4-BE49-F238E27FC236}">
                  <a16:creationId xmlns:a16="http://schemas.microsoft.com/office/drawing/2014/main" id="{E3A3453E-EC27-7D3D-6681-96FB5F3A28F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2158476" y="4188917"/>
              <a:ext cx="500743" cy="500743"/>
            </a:xfrm>
            <a:prstGeom prst="rect">
              <a:avLst/>
            </a:prstGeom>
          </p:spPr>
        </p:pic>
        <p:pic>
          <p:nvPicPr>
            <p:cNvPr id="77" name="Graphic 76" descr="User with solid fill">
              <a:extLst>
                <a:ext uri="{FF2B5EF4-FFF2-40B4-BE49-F238E27FC236}">
                  <a16:creationId xmlns:a16="http://schemas.microsoft.com/office/drawing/2014/main" id="{E52ECABA-41A7-1403-499E-2A632F386B7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827159" y="4188917"/>
              <a:ext cx="500743" cy="500743"/>
            </a:xfrm>
            <a:prstGeom prst="rect">
              <a:avLst/>
            </a:prstGeom>
          </p:spPr>
        </p:pic>
        <p:pic>
          <p:nvPicPr>
            <p:cNvPr id="78" name="Graphic 77" descr="User with solid fill">
              <a:extLst>
                <a:ext uri="{FF2B5EF4-FFF2-40B4-BE49-F238E27FC236}">
                  <a16:creationId xmlns:a16="http://schemas.microsoft.com/office/drawing/2014/main" id="{B701C695-DBB4-6C59-A065-A60AF213ED5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3166172" y="4192027"/>
              <a:ext cx="500743" cy="500743"/>
            </a:xfrm>
            <a:prstGeom prst="rect">
              <a:avLst/>
            </a:prstGeom>
          </p:spPr>
        </p:pic>
        <p:pic>
          <p:nvPicPr>
            <p:cNvPr id="79" name="Graphic 78" descr="User with solid fill">
              <a:extLst>
                <a:ext uri="{FF2B5EF4-FFF2-40B4-BE49-F238E27FC236}">
                  <a16:creationId xmlns:a16="http://schemas.microsoft.com/office/drawing/2014/main" id="{CC211E7F-D37E-D081-C21D-B8856000B6E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3497415" y="4195138"/>
              <a:ext cx="500743" cy="500743"/>
            </a:xfrm>
            <a:prstGeom prst="rect">
              <a:avLst/>
            </a:prstGeom>
          </p:spPr>
        </p:pic>
        <p:pic>
          <p:nvPicPr>
            <p:cNvPr id="80" name="Graphic 79" descr="User with solid fill">
              <a:extLst>
                <a:ext uri="{FF2B5EF4-FFF2-40B4-BE49-F238E27FC236}">
                  <a16:creationId xmlns:a16="http://schemas.microsoft.com/office/drawing/2014/main" id="{EC663462-105E-F257-AEB3-60AD6265E37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3822427" y="4195138"/>
              <a:ext cx="500743" cy="500743"/>
            </a:xfrm>
            <a:prstGeom prst="rect">
              <a:avLst/>
            </a:prstGeom>
          </p:spPr>
        </p:pic>
        <p:pic>
          <p:nvPicPr>
            <p:cNvPr id="81" name="Graphic 80" descr="User with solid fill">
              <a:extLst>
                <a:ext uri="{FF2B5EF4-FFF2-40B4-BE49-F238E27FC236}">
                  <a16:creationId xmlns:a16="http://schemas.microsoft.com/office/drawing/2014/main" id="{EA06A88B-DA35-D418-942F-B96BB89A7CF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152109" y="4188917"/>
              <a:ext cx="500743" cy="500743"/>
            </a:xfrm>
            <a:prstGeom prst="rect">
              <a:avLst/>
            </a:prstGeom>
          </p:spPr>
        </p:pic>
        <p:pic>
          <p:nvPicPr>
            <p:cNvPr id="82" name="Graphic 81" descr="User with solid fill">
              <a:extLst>
                <a:ext uri="{FF2B5EF4-FFF2-40B4-BE49-F238E27FC236}">
                  <a16:creationId xmlns:a16="http://schemas.microsoft.com/office/drawing/2014/main" id="{03D21B6F-0FC3-3400-F961-61BA8500BEF2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4483352" y="4188917"/>
              <a:ext cx="500743" cy="500743"/>
            </a:xfrm>
            <a:prstGeom prst="rect">
              <a:avLst/>
            </a:prstGeom>
          </p:spPr>
        </p:pic>
        <p:pic>
          <p:nvPicPr>
            <p:cNvPr id="83" name="Graphic 82" descr="User with solid fill">
              <a:extLst>
                <a:ext uri="{FF2B5EF4-FFF2-40B4-BE49-F238E27FC236}">
                  <a16:creationId xmlns:a16="http://schemas.microsoft.com/office/drawing/2014/main" id="{82FE3079-C3F7-E297-4AA2-807C0C889BA2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4814595" y="4192028"/>
              <a:ext cx="500743" cy="500743"/>
            </a:xfrm>
            <a:prstGeom prst="rect">
              <a:avLst/>
            </a:prstGeom>
          </p:spPr>
        </p:pic>
        <p:pic>
          <p:nvPicPr>
            <p:cNvPr id="84" name="Graphic 83" descr="User with solid fill">
              <a:extLst>
                <a:ext uri="{FF2B5EF4-FFF2-40B4-BE49-F238E27FC236}">
                  <a16:creationId xmlns:a16="http://schemas.microsoft.com/office/drawing/2014/main" id="{507DE04E-4FE8-0B93-5269-166CF075DDA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5148938" y="4192028"/>
              <a:ext cx="500743" cy="500743"/>
            </a:xfrm>
            <a:prstGeom prst="rect">
              <a:avLst/>
            </a:prstGeom>
          </p:spPr>
        </p:pic>
        <p:pic>
          <p:nvPicPr>
            <p:cNvPr id="85" name="Graphic 84" descr="User with solid fill">
              <a:extLst>
                <a:ext uri="{FF2B5EF4-FFF2-40B4-BE49-F238E27FC236}">
                  <a16:creationId xmlns:a16="http://schemas.microsoft.com/office/drawing/2014/main" id="{9402F088-D197-803E-6B90-BEA31EC9B11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156985" y="4676694"/>
              <a:ext cx="500743" cy="500743"/>
            </a:xfrm>
            <a:prstGeom prst="rect">
              <a:avLst/>
            </a:prstGeom>
          </p:spPr>
        </p:pic>
        <p:pic>
          <p:nvPicPr>
            <p:cNvPr id="86" name="Graphic 85" descr="User with solid fill">
              <a:extLst>
                <a:ext uri="{FF2B5EF4-FFF2-40B4-BE49-F238E27FC236}">
                  <a16:creationId xmlns:a16="http://schemas.microsoft.com/office/drawing/2014/main" id="{4ECC421B-249B-998D-8DFA-F167A3AC1B4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824200" y="4676694"/>
              <a:ext cx="500743" cy="500743"/>
            </a:xfrm>
            <a:prstGeom prst="rect">
              <a:avLst/>
            </a:prstGeom>
          </p:spPr>
        </p:pic>
        <p:pic>
          <p:nvPicPr>
            <p:cNvPr id="87" name="Graphic 86" descr="User with solid fill">
              <a:extLst>
                <a:ext uri="{FF2B5EF4-FFF2-40B4-BE49-F238E27FC236}">
                  <a16:creationId xmlns:a16="http://schemas.microsoft.com/office/drawing/2014/main" id="{0A5DBFEF-F621-5613-C31C-932F2D568FED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1822568" y="4676693"/>
              <a:ext cx="500743" cy="500743"/>
            </a:xfrm>
            <a:prstGeom prst="rect">
              <a:avLst/>
            </a:prstGeom>
          </p:spPr>
        </p:pic>
        <p:pic>
          <p:nvPicPr>
            <p:cNvPr id="88" name="Graphic 87" descr="User with solid fill">
              <a:extLst>
                <a:ext uri="{FF2B5EF4-FFF2-40B4-BE49-F238E27FC236}">
                  <a16:creationId xmlns:a16="http://schemas.microsoft.com/office/drawing/2014/main" id="{4C9791E6-E325-9340-E078-1867C35E5B5E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1489780" y="4676693"/>
              <a:ext cx="500743" cy="500743"/>
            </a:xfrm>
            <a:prstGeom prst="rect">
              <a:avLst/>
            </a:prstGeom>
          </p:spPr>
        </p:pic>
        <p:pic>
          <p:nvPicPr>
            <p:cNvPr id="89" name="Graphic 88" descr="User with solid fill">
              <a:extLst>
                <a:ext uri="{FF2B5EF4-FFF2-40B4-BE49-F238E27FC236}">
                  <a16:creationId xmlns:a16="http://schemas.microsoft.com/office/drawing/2014/main" id="{87E367CD-A792-9C0F-2121-2D54E7C8DB74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2492816" y="4676692"/>
              <a:ext cx="500743" cy="500743"/>
            </a:xfrm>
            <a:prstGeom prst="rect">
              <a:avLst/>
            </a:prstGeom>
          </p:spPr>
        </p:pic>
        <p:pic>
          <p:nvPicPr>
            <p:cNvPr id="90" name="Graphic 89" descr="User with solid fill">
              <a:extLst>
                <a:ext uri="{FF2B5EF4-FFF2-40B4-BE49-F238E27FC236}">
                  <a16:creationId xmlns:a16="http://schemas.microsoft.com/office/drawing/2014/main" id="{7FDBEE7F-AA60-A9F0-9E90-CA4CD822534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158476" y="4676692"/>
              <a:ext cx="500743" cy="500743"/>
            </a:xfrm>
            <a:prstGeom prst="rect">
              <a:avLst/>
            </a:prstGeom>
          </p:spPr>
        </p:pic>
        <p:pic>
          <p:nvPicPr>
            <p:cNvPr id="91" name="Graphic 90" descr="User with solid fill">
              <a:extLst>
                <a:ext uri="{FF2B5EF4-FFF2-40B4-BE49-F238E27FC236}">
                  <a16:creationId xmlns:a16="http://schemas.microsoft.com/office/drawing/2014/main" id="{426720D1-D6C6-A4C2-A55B-0469019AA74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2827159" y="4676692"/>
              <a:ext cx="500743" cy="500743"/>
            </a:xfrm>
            <a:prstGeom prst="rect">
              <a:avLst/>
            </a:prstGeom>
          </p:spPr>
        </p:pic>
        <p:pic>
          <p:nvPicPr>
            <p:cNvPr id="92" name="Graphic 91" descr="User with solid fill">
              <a:extLst>
                <a:ext uri="{FF2B5EF4-FFF2-40B4-BE49-F238E27FC236}">
                  <a16:creationId xmlns:a16="http://schemas.microsoft.com/office/drawing/2014/main" id="{B743FB73-BDD9-B0C1-1349-2BAAF9A5B6C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3166172" y="4679802"/>
              <a:ext cx="500743" cy="500743"/>
            </a:xfrm>
            <a:prstGeom prst="rect">
              <a:avLst/>
            </a:prstGeom>
          </p:spPr>
        </p:pic>
        <p:pic>
          <p:nvPicPr>
            <p:cNvPr id="93" name="Graphic 92" descr="User with solid fill">
              <a:extLst>
                <a:ext uri="{FF2B5EF4-FFF2-40B4-BE49-F238E27FC236}">
                  <a16:creationId xmlns:a16="http://schemas.microsoft.com/office/drawing/2014/main" id="{BE6A63A3-1F46-9608-88C1-D4BB154B0BA4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3497415" y="4673582"/>
              <a:ext cx="500743" cy="500743"/>
            </a:xfrm>
            <a:prstGeom prst="rect">
              <a:avLst/>
            </a:prstGeom>
          </p:spPr>
        </p:pic>
        <p:pic>
          <p:nvPicPr>
            <p:cNvPr id="94" name="Graphic 93" descr="User with solid fill">
              <a:extLst>
                <a:ext uri="{FF2B5EF4-FFF2-40B4-BE49-F238E27FC236}">
                  <a16:creationId xmlns:a16="http://schemas.microsoft.com/office/drawing/2014/main" id="{F383A569-78E1-114A-BCFD-B3CB9542795C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3822427" y="4673582"/>
              <a:ext cx="500743" cy="500743"/>
            </a:xfrm>
            <a:prstGeom prst="rect">
              <a:avLst/>
            </a:prstGeom>
          </p:spPr>
        </p:pic>
        <p:pic>
          <p:nvPicPr>
            <p:cNvPr id="95" name="Graphic 94" descr="User with solid fill">
              <a:extLst>
                <a:ext uri="{FF2B5EF4-FFF2-40B4-BE49-F238E27FC236}">
                  <a16:creationId xmlns:a16="http://schemas.microsoft.com/office/drawing/2014/main" id="{ED359119-35AE-FC1E-6FB6-353FCE1CC02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152109" y="4676692"/>
              <a:ext cx="500743" cy="500743"/>
            </a:xfrm>
            <a:prstGeom prst="rect">
              <a:avLst/>
            </a:prstGeom>
          </p:spPr>
        </p:pic>
        <p:pic>
          <p:nvPicPr>
            <p:cNvPr id="96" name="Graphic 95" descr="User with solid fill">
              <a:extLst>
                <a:ext uri="{FF2B5EF4-FFF2-40B4-BE49-F238E27FC236}">
                  <a16:creationId xmlns:a16="http://schemas.microsoft.com/office/drawing/2014/main" id="{B4F77B6A-91FA-EFFB-5834-DF3FC26F8DA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4483352" y="4676692"/>
              <a:ext cx="500743" cy="500743"/>
            </a:xfrm>
            <a:prstGeom prst="rect">
              <a:avLst/>
            </a:prstGeom>
          </p:spPr>
        </p:pic>
        <p:pic>
          <p:nvPicPr>
            <p:cNvPr id="97" name="Graphic 96" descr="User with solid fill">
              <a:extLst>
                <a:ext uri="{FF2B5EF4-FFF2-40B4-BE49-F238E27FC236}">
                  <a16:creationId xmlns:a16="http://schemas.microsoft.com/office/drawing/2014/main" id="{4005DD6E-26B8-B72C-24F4-09205EFF837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4814595" y="4679803"/>
              <a:ext cx="500743" cy="500743"/>
            </a:xfrm>
            <a:prstGeom prst="rect">
              <a:avLst/>
            </a:prstGeom>
          </p:spPr>
        </p:pic>
        <p:pic>
          <p:nvPicPr>
            <p:cNvPr id="98" name="Graphic 97" descr="User with solid fill">
              <a:extLst>
                <a:ext uri="{FF2B5EF4-FFF2-40B4-BE49-F238E27FC236}">
                  <a16:creationId xmlns:a16="http://schemas.microsoft.com/office/drawing/2014/main" id="{064D91A0-BD4B-0763-7BC8-B21AC49A410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5148938" y="4679803"/>
              <a:ext cx="500743" cy="500743"/>
            </a:xfrm>
            <a:prstGeom prst="rect">
              <a:avLst/>
            </a:prstGeom>
          </p:spPr>
        </p:pic>
        <p:pic>
          <p:nvPicPr>
            <p:cNvPr id="99" name="Graphic 98" descr="User with solid fill">
              <a:extLst>
                <a:ext uri="{FF2B5EF4-FFF2-40B4-BE49-F238E27FC236}">
                  <a16:creationId xmlns:a16="http://schemas.microsoft.com/office/drawing/2014/main" id="{5C850AD8-708B-6702-CDEA-859FA2529E9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156985" y="5182074"/>
              <a:ext cx="500743" cy="500743"/>
            </a:xfrm>
            <a:prstGeom prst="rect">
              <a:avLst/>
            </a:prstGeom>
          </p:spPr>
        </p:pic>
        <p:pic>
          <p:nvPicPr>
            <p:cNvPr id="100" name="Graphic 99" descr="User with solid fill">
              <a:extLst>
                <a:ext uri="{FF2B5EF4-FFF2-40B4-BE49-F238E27FC236}">
                  <a16:creationId xmlns:a16="http://schemas.microsoft.com/office/drawing/2014/main" id="{62AC9B97-B87F-71E3-A115-ED352FB22141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824200" y="5182074"/>
              <a:ext cx="500743" cy="500743"/>
            </a:xfrm>
            <a:prstGeom prst="rect">
              <a:avLst/>
            </a:prstGeom>
          </p:spPr>
        </p:pic>
        <p:pic>
          <p:nvPicPr>
            <p:cNvPr id="101" name="Graphic 100" descr="User with solid fill">
              <a:extLst>
                <a:ext uri="{FF2B5EF4-FFF2-40B4-BE49-F238E27FC236}">
                  <a16:creationId xmlns:a16="http://schemas.microsoft.com/office/drawing/2014/main" id="{91897405-E50D-C421-B8AB-BD763FCB25FD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1822568" y="5182073"/>
              <a:ext cx="500743" cy="500743"/>
            </a:xfrm>
            <a:prstGeom prst="rect">
              <a:avLst/>
            </a:prstGeom>
          </p:spPr>
        </p:pic>
        <p:pic>
          <p:nvPicPr>
            <p:cNvPr id="102" name="Graphic 101" descr="User with solid fill">
              <a:extLst>
                <a:ext uri="{FF2B5EF4-FFF2-40B4-BE49-F238E27FC236}">
                  <a16:creationId xmlns:a16="http://schemas.microsoft.com/office/drawing/2014/main" id="{79F2A521-28F7-5914-92FD-68C47C917F8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489780" y="5182073"/>
              <a:ext cx="500743" cy="500743"/>
            </a:xfrm>
            <a:prstGeom prst="rect">
              <a:avLst/>
            </a:prstGeom>
          </p:spPr>
        </p:pic>
        <p:pic>
          <p:nvPicPr>
            <p:cNvPr id="103" name="Graphic 102" descr="User with solid fill">
              <a:extLst>
                <a:ext uri="{FF2B5EF4-FFF2-40B4-BE49-F238E27FC236}">
                  <a16:creationId xmlns:a16="http://schemas.microsoft.com/office/drawing/2014/main" id="{715404E4-74E7-7313-569B-981462C3BC7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2492816" y="5182072"/>
              <a:ext cx="500743" cy="500743"/>
            </a:xfrm>
            <a:prstGeom prst="rect">
              <a:avLst/>
            </a:prstGeom>
          </p:spPr>
        </p:pic>
        <p:pic>
          <p:nvPicPr>
            <p:cNvPr id="104" name="Graphic 103" descr="User with solid fill">
              <a:extLst>
                <a:ext uri="{FF2B5EF4-FFF2-40B4-BE49-F238E27FC236}">
                  <a16:creationId xmlns:a16="http://schemas.microsoft.com/office/drawing/2014/main" id="{0597FCD4-3A05-A257-897B-B63C5258EB5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158476" y="5182072"/>
              <a:ext cx="500743" cy="500743"/>
            </a:xfrm>
            <a:prstGeom prst="rect">
              <a:avLst/>
            </a:prstGeom>
          </p:spPr>
        </p:pic>
        <p:pic>
          <p:nvPicPr>
            <p:cNvPr id="105" name="Graphic 104" descr="User with solid fill">
              <a:extLst>
                <a:ext uri="{FF2B5EF4-FFF2-40B4-BE49-F238E27FC236}">
                  <a16:creationId xmlns:a16="http://schemas.microsoft.com/office/drawing/2014/main" id="{D30E9A91-60E4-72B5-3AB8-C431A89AE2F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2827159" y="5182072"/>
              <a:ext cx="500743" cy="500743"/>
            </a:xfrm>
            <a:prstGeom prst="rect">
              <a:avLst/>
            </a:prstGeom>
          </p:spPr>
        </p:pic>
        <p:pic>
          <p:nvPicPr>
            <p:cNvPr id="106" name="Graphic 105" descr="User with solid fill">
              <a:extLst>
                <a:ext uri="{FF2B5EF4-FFF2-40B4-BE49-F238E27FC236}">
                  <a16:creationId xmlns:a16="http://schemas.microsoft.com/office/drawing/2014/main" id="{A06AFA89-B58B-919E-B8A8-97A8FDE50CF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166172" y="5185182"/>
              <a:ext cx="500743" cy="500743"/>
            </a:xfrm>
            <a:prstGeom prst="rect">
              <a:avLst/>
            </a:prstGeom>
          </p:spPr>
        </p:pic>
        <p:pic>
          <p:nvPicPr>
            <p:cNvPr id="107" name="Graphic 106" descr="User with solid fill">
              <a:extLst>
                <a:ext uri="{FF2B5EF4-FFF2-40B4-BE49-F238E27FC236}">
                  <a16:creationId xmlns:a16="http://schemas.microsoft.com/office/drawing/2014/main" id="{0A9376C0-2991-1748-B0CF-154449BC173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3497415" y="5178962"/>
              <a:ext cx="500743" cy="500743"/>
            </a:xfrm>
            <a:prstGeom prst="rect">
              <a:avLst/>
            </a:prstGeom>
          </p:spPr>
        </p:pic>
        <p:pic>
          <p:nvPicPr>
            <p:cNvPr id="108" name="Graphic 107" descr="User with solid fill">
              <a:extLst>
                <a:ext uri="{FF2B5EF4-FFF2-40B4-BE49-F238E27FC236}">
                  <a16:creationId xmlns:a16="http://schemas.microsoft.com/office/drawing/2014/main" id="{011D1D88-6B2E-A623-F5B5-36081842F3B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822427" y="5178962"/>
              <a:ext cx="500743" cy="500743"/>
            </a:xfrm>
            <a:prstGeom prst="rect">
              <a:avLst/>
            </a:prstGeom>
          </p:spPr>
        </p:pic>
        <p:pic>
          <p:nvPicPr>
            <p:cNvPr id="109" name="Graphic 108" descr="User with solid fill">
              <a:extLst>
                <a:ext uri="{FF2B5EF4-FFF2-40B4-BE49-F238E27FC236}">
                  <a16:creationId xmlns:a16="http://schemas.microsoft.com/office/drawing/2014/main" id="{42474C3C-A2B3-0BE7-1815-90502616FF5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4152109" y="5182072"/>
              <a:ext cx="500743" cy="500743"/>
            </a:xfrm>
            <a:prstGeom prst="rect">
              <a:avLst/>
            </a:prstGeom>
          </p:spPr>
        </p:pic>
        <p:pic>
          <p:nvPicPr>
            <p:cNvPr id="110" name="Graphic 109" descr="User with solid fill">
              <a:extLst>
                <a:ext uri="{FF2B5EF4-FFF2-40B4-BE49-F238E27FC236}">
                  <a16:creationId xmlns:a16="http://schemas.microsoft.com/office/drawing/2014/main" id="{36A9FF6B-5BAA-3AF0-88A9-CDFB1544BBF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4483352" y="5182072"/>
              <a:ext cx="500743" cy="500743"/>
            </a:xfrm>
            <a:prstGeom prst="rect">
              <a:avLst/>
            </a:prstGeom>
          </p:spPr>
        </p:pic>
        <p:pic>
          <p:nvPicPr>
            <p:cNvPr id="111" name="Graphic 110" descr="User with solid fill">
              <a:extLst>
                <a:ext uri="{FF2B5EF4-FFF2-40B4-BE49-F238E27FC236}">
                  <a16:creationId xmlns:a16="http://schemas.microsoft.com/office/drawing/2014/main" id="{DECA8B0E-8A85-5CFC-3AE3-4F0427D4A9FD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4814595" y="5185183"/>
              <a:ext cx="500743" cy="500743"/>
            </a:xfrm>
            <a:prstGeom prst="rect">
              <a:avLst/>
            </a:prstGeom>
          </p:spPr>
        </p:pic>
        <p:pic>
          <p:nvPicPr>
            <p:cNvPr id="112" name="Graphic 111" descr="User with solid fill">
              <a:extLst>
                <a:ext uri="{FF2B5EF4-FFF2-40B4-BE49-F238E27FC236}">
                  <a16:creationId xmlns:a16="http://schemas.microsoft.com/office/drawing/2014/main" id="{42B77149-2ACD-6DCB-58EC-8DD66E19C59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5148938" y="5185183"/>
              <a:ext cx="500743" cy="500743"/>
            </a:xfrm>
            <a:prstGeom prst="rect">
              <a:avLst/>
            </a:prstGeom>
          </p:spPr>
        </p:pic>
        <p:pic>
          <p:nvPicPr>
            <p:cNvPr id="113" name="Graphic 112" descr="User with solid fill">
              <a:extLst>
                <a:ext uri="{FF2B5EF4-FFF2-40B4-BE49-F238E27FC236}">
                  <a16:creationId xmlns:a16="http://schemas.microsoft.com/office/drawing/2014/main" id="{91C08761-F8CA-44DB-6301-4942E150513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164751" y="5692403"/>
              <a:ext cx="500743" cy="500743"/>
            </a:xfrm>
            <a:prstGeom prst="rect">
              <a:avLst/>
            </a:prstGeom>
          </p:spPr>
        </p:pic>
        <p:pic>
          <p:nvPicPr>
            <p:cNvPr id="114" name="Graphic 113" descr="User with solid fill">
              <a:extLst>
                <a:ext uri="{FF2B5EF4-FFF2-40B4-BE49-F238E27FC236}">
                  <a16:creationId xmlns:a16="http://schemas.microsoft.com/office/drawing/2014/main" id="{F9AA771C-B2CD-36C9-5E8B-12D5E89D48A1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831966" y="5692403"/>
              <a:ext cx="500743" cy="500743"/>
            </a:xfrm>
            <a:prstGeom prst="rect">
              <a:avLst/>
            </a:prstGeom>
          </p:spPr>
        </p:pic>
        <p:pic>
          <p:nvPicPr>
            <p:cNvPr id="115" name="Graphic 114" descr="User with solid fill">
              <a:extLst>
                <a:ext uri="{FF2B5EF4-FFF2-40B4-BE49-F238E27FC236}">
                  <a16:creationId xmlns:a16="http://schemas.microsoft.com/office/drawing/2014/main" id="{23A420EE-B1E1-8F83-25E3-2314A78A4D3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1830334" y="5692402"/>
              <a:ext cx="500743" cy="500743"/>
            </a:xfrm>
            <a:prstGeom prst="rect">
              <a:avLst/>
            </a:prstGeom>
          </p:spPr>
        </p:pic>
        <p:pic>
          <p:nvPicPr>
            <p:cNvPr id="116" name="Graphic 115" descr="User with solid fill">
              <a:extLst>
                <a:ext uri="{FF2B5EF4-FFF2-40B4-BE49-F238E27FC236}">
                  <a16:creationId xmlns:a16="http://schemas.microsoft.com/office/drawing/2014/main" id="{E766028C-EB97-E403-E90B-BB6EFEF3AF5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497546" y="5692402"/>
              <a:ext cx="500743" cy="500743"/>
            </a:xfrm>
            <a:prstGeom prst="rect">
              <a:avLst/>
            </a:prstGeom>
          </p:spPr>
        </p:pic>
        <p:pic>
          <p:nvPicPr>
            <p:cNvPr id="117" name="Graphic 116" descr="User with solid fill">
              <a:extLst>
                <a:ext uri="{FF2B5EF4-FFF2-40B4-BE49-F238E27FC236}">
                  <a16:creationId xmlns:a16="http://schemas.microsoft.com/office/drawing/2014/main" id="{7A6BCBE3-6D11-6F52-F8F4-D38096D284F2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2500582" y="5692401"/>
              <a:ext cx="500743" cy="500743"/>
            </a:xfrm>
            <a:prstGeom prst="rect">
              <a:avLst/>
            </a:prstGeom>
          </p:spPr>
        </p:pic>
        <p:pic>
          <p:nvPicPr>
            <p:cNvPr id="118" name="Graphic 117" descr="User with solid fill">
              <a:extLst>
                <a:ext uri="{FF2B5EF4-FFF2-40B4-BE49-F238E27FC236}">
                  <a16:creationId xmlns:a16="http://schemas.microsoft.com/office/drawing/2014/main" id="{15A7D9E9-712A-C1DA-5F56-529C98444EE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166242" y="5692401"/>
              <a:ext cx="500743" cy="500743"/>
            </a:xfrm>
            <a:prstGeom prst="rect">
              <a:avLst/>
            </a:prstGeom>
          </p:spPr>
        </p:pic>
        <p:pic>
          <p:nvPicPr>
            <p:cNvPr id="119" name="Graphic 118" descr="User with solid fill">
              <a:extLst>
                <a:ext uri="{FF2B5EF4-FFF2-40B4-BE49-F238E27FC236}">
                  <a16:creationId xmlns:a16="http://schemas.microsoft.com/office/drawing/2014/main" id="{F5061B3D-F54B-8100-0B01-B05DA77260EE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2834925" y="5692401"/>
              <a:ext cx="500743" cy="500743"/>
            </a:xfrm>
            <a:prstGeom prst="rect">
              <a:avLst/>
            </a:prstGeom>
          </p:spPr>
        </p:pic>
        <p:pic>
          <p:nvPicPr>
            <p:cNvPr id="120" name="Graphic 119" descr="User with solid fill">
              <a:extLst>
                <a:ext uri="{FF2B5EF4-FFF2-40B4-BE49-F238E27FC236}">
                  <a16:creationId xmlns:a16="http://schemas.microsoft.com/office/drawing/2014/main" id="{73579999-0350-EC7E-1BBB-15231C077E4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3164607" y="5695511"/>
              <a:ext cx="500743" cy="500743"/>
            </a:xfrm>
            <a:prstGeom prst="rect">
              <a:avLst/>
            </a:prstGeom>
          </p:spPr>
        </p:pic>
        <p:pic>
          <p:nvPicPr>
            <p:cNvPr id="121" name="Graphic 120" descr="User with solid fill">
              <a:extLst>
                <a:ext uri="{FF2B5EF4-FFF2-40B4-BE49-F238E27FC236}">
                  <a16:creationId xmlns:a16="http://schemas.microsoft.com/office/drawing/2014/main" id="{A58CF148-642C-AF0C-A980-623163989EF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3495850" y="5698622"/>
              <a:ext cx="500743" cy="500743"/>
            </a:xfrm>
            <a:prstGeom prst="rect">
              <a:avLst/>
            </a:prstGeom>
          </p:spPr>
        </p:pic>
        <p:pic>
          <p:nvPicPr>
            <p:cNvPr id="122" name="Graphic 121" descr="User with solid fill">
              <a:extLst>
                <a:ext uri="{FF2B5EF4-FFF2-40B4-BE49-F238E27FC236}">
                  <a16:creationId xmlns:a16="http://schemas.microsoft.com/office/drawing/2014/main" id="{F50EF9D1-58A5-1C76-248F-C86625C22DBA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3830193" y="5698622"/>
              <a:ext cx="500743" cy="500743"/>
            </a:xfrm>
            <a:prstGeom prst="rect">
              <a:avLst/>
            </a:prstGeom>
          </p:spPr>
        </p:pic>
        <p:pic>
          <p:nvPicPr>
            <p:cNvPr id="123" name="Graphic 122" descr="User with solid fill">
              <a:extLst>
                <a:ext uri="{FF2B5EF4-FFF2-40B4-BE49-F238E27FC236}">
                  <a16:creationId xmlns:a16="http://schemas.microsoft.com/office/drawing/2014/main" id="{8DFEFEFD-16A3-796B-8CB6-81E437E961C0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4159875" y="5692401"/>
              <a:ext cx="500743" cy="500743"/>
            </a:xfrm>
            <a:prstGeom prst="rect">
              <a:avLst/>
            </a:prstGeom>
          </p:spPr>
        </p:pic>
        <p:pic>
          <p:nvPicPr>
            <p:cNvPr id="124" name="Graphic 123" descr="User with solid fill">
              <a:extLst>
                <a:ext uri="{FF2B5EF4-FFF2-40B4-BE49-F238E27FC236}">
                  <a16:creationId xmlns:a16="http://schemas.microsoft.com/office/drawing/2014/main" id="{258AD98C-D8F7-81FB-D80E-038DB9490E0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491118" y="5692401"/>
              <a:ext cx="500743" cy="500743"/>
            </a:xfrm>
            <a:prstGeom prst="rect">
              <a:avLst/>
            </a:prstGeom>
          </p:spPr>
        </p:pic>
        <p:pic>
          <p:nvPicPr>
            <p:cNvPr id="125" name="Graphic 124" descr="User with solid fill">
              <a:extLst>
                <a:ext uri="{FF2B5EF4-FFF2-40B4-BE49-F238E27FC236}">
                  <a16:creationId xmlns:a16="http://schemas.microsoft.com/office/drawing/2014/main" id="{9375FC66-0597-C67E-7611-EE1D12CC136A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4822361" y="5695512"/>
              <a:ext cx="500743" cy="500743"/>
            </a:xfrm>
            <a:prstGeom prst="rect">
              <a:avLst/>
            </a:prstGeom>
          </p:spPr>
        </p:pic>
        <p:pic>
          <p:nvPicPr>
            <p:cNvPr id="126" name="Graphic 125" descr="User with solid fill">
              <a:extLst>
                <a:ext uri="{FF2B5EF4-FFF2-40B4-BE49-F238E27FC236}">
                  <a16:creationId xmlns:a16="http://schemas.microsoft.com/office/drawing/2014/main" id="{FD80AAC1-58E7-1DBB-B7CE-DCFD7D3296E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5147373" y="5695512"/>
              <a:ext cx="500743" cy="500743"/>
            </a:xfrm>
            <a:prstGeom prst="rect">
              <a:avLst/>
            </a:prstGeom>
          </p:spPr>
        </p:pic>
      </p:grpSp>
      <p:pic>
        <p:nvPicPr>
          <p:cNvPr id="133" name="Graphic 132" descr="User with solid fill">
            <a:extLst>
              <a:ext uri="{FF2B5EF4-FFF2-40B4-BE49-F238E27FC236}">
                <a16:creationId xmlns:a16="http://schemas.microsoft.com/office/drawing/2014/main" id="{075394F5-9FEC-6A54-648B-A3DE8C9A1B0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483555" y="4701006"/>
            <a:ext cx="500743" cy="500743"/>
          </a:xfrm>
          <a:prstGeom prst="rect">
            <a:avLst/>
          </a:prstGeom>
        </p:spPr>
      </p:pic>
      <p:pic>
        <p:nvPicPr>
          <p:cNvPr id="134" name="Graphic 133" descr="User with solid fill">
            <a:extLst>
              <a:ext uri="{FF2B5EF4-FFF2-40B4-BE49-F238E27FC236}">
                <a16:creationId xmlns:a16="http://schemas.microsoft.com/office/drawing/2014/main" id="{524BB9D0-0C8E-AC8B-BE5B-80BF7993114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589789" y="3813583"/>
            <a:ext cx="500743" cy="500743"/>
          </a:xfrm>
          <a:prstGeom prst="rect">
            <a:avLst/>
          </a:prstGeom>
        </p:spPr>
      </p:pic>
      <p:pic>
        <p:nvPicPr>
          <p:cNvPr id="135" name="Graphic 134" descr="User with solid fill">
            <a:extLst>
              <a:ext uri="{FF2B5EF4-FFF2-40B4-BE49-F238E27FC236}">
                <a16:creationId xmlns:a16="http://schemas.microsoft.com/office/drawing/2014/main" id="{21DC9EA1-2056-316B-6B1F-2474A4ADA13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483556" y="3824727"/>
            <a:ext cx="500743" cy="500743"/>
          </a:xfrm>
          <a:prstGeom prst="rect">
            <a:avLst/>
          </a:prstGeom>
        </p:spPr>
      </p:pic>
      <p:pic>
        <p:nvPicPr>
          <p:cNvPr id="136" name="Graphic 135" descr="User with solid fill">
            <a:extLst>
              <a:ext uri="{FF2B5EF4-FFF2-40B4-BE49-F238E27FC236}">
                <a16:creationId xmlns:a16="http://schemas.microsoft.com/office/drawing/2014/main" id="{9E210BA8-8A2C-AB59-1B97-86C95FC7E87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030234" y="4352663"/>
            <a:ext cx="500743" cy="500743"/>
          </a:xfrm>
          <a:prstGeom prst="rect">
            <a:avLst/>
          </a:prstGeom>
        </p:spPr>
      </p:pic>
      <p:pic>
        <p:nvPicPr>
          <p:cNvPr id="137" name="Graphic 136" descr="User with solid fill">
            <a:extLst>
              <a:ext uri="{FF2B5EF4-FFF2-40B4-BE49-F238E27FC236}">
                <a16:creationId xmlns:a16="http://schemas.microsoft.com/office/drawing/2014/main" id="{B63E5D0D-D106-B941-9171-54D280F3D2B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012836" y="4352662"/>
            <a:ext cx="500743" cy="500743"/>
          </a:xfrm>
          <a:prstGeom prst="rect">
            <a:avLst/>
          </a:prstGeom>
        </p:spPr>
      </p:pic>
      <p:pic>
        <p:nvPicPr>
          <p:cNvPr id="139" name="Graphic 138" descr="User with solid fill">
            <a:extLst>
              <a:ext uri="{FF2B5EF4-FFF2-40B4-BE49-F238E27FC236}">
                <a16:creationId xmlns:a16="http://schemas.microsoft.com/office/drawing/2014/main" id="{2C65A56E-AFD9-125E-9EA3-0487A05C90E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587515" y="4696811"/>
            <a:ext cx="500743" cy="500743"/>
          </a:xfrm>
          <a:prstGeom prst="rect">
            <a:avLst/>
          </a:prstGeom>
        </p:spPr>
      </p:pic>
      <p:pic>
        <p:nvPicPr>
          <p:cNvPr id="140" name="Graphic 139" descr="User with solid fill">
            <a:extLst>
              <a:ext uri="{FF2B5EF4-FFF2-40B4-BE49-F238E27FC236}">
                <a16:creationId xmlns:a16="http://schemas.microsoft.com/office/drawing/2014/main" id="{E8B03E4D-B81A-D063-6F32-749912E1338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547376" y="4700479"/>
            <a:ext cx="500743" cy="500743"/>
          </a:xfrm>
          <a:prstGeom prst="rect">
            <a:avLst/>
          </a:prstGeom>
        </p:spPr>
      </p:pic>
      <p:pic>
        <p:nvPicPr>
          <p:cNvPr id="141" name="Graphic 140" descr="User with solid fill">
            <a:extLst>
              <a:ext uri="{FF2B5EF4-FFF2-40B4-BE49-F238E27FC236}">
                <a16:creationId xmlns:a16="http://schemas.microsoft.com/office/drawing/2014/main" id="{8F91414A-89B5-39F8-7231-FA2DC8880A7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538851" y="3824726"/>
            <a:ext cx="500743" cy="500743"/>
          </a:xfrm>
          <a:prstGeom prst="rect">
            <a:avLst/>
          </a:prstGeom>
        </p:spPr>
      </p:pic>
      <p:pic>
        <p:nvPicPr>
          <p:cNvPr id="142" name="Graphic 141" descr="User with solid fill">
            <a:extLst>
              <a:ext uri="{FF2B5EF4-FFF2-40B4-BE49-F238E27FC236}">
                <a16:creationId xmlns:a16="http://schemas.microsoft.com/office/drawing/2014/main" id="{BA708F32-08EE-D92E-8078-09B37FFCB9C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089900" y="4313321"/>
            <a:ext cx="500743" cy="500743"/>
          </a:xfrm>
          <a:prstGeom prst="rect">
            <a:avLst/>
          </a:prstGeom>
        </p:spPr>
      </p:pic>
      <p:pic>
        <p:nvPicPr>
          <p:cNvPr id="2" name="Graphic 1" descr="User with solid fill">
            <a:extLst>
              <a:ext uri="{FF2B5EF4-FFF2-40B4-BE49-F238E27FC236}">
                <a16:creationId xmlns:a16="http://schemas.microsoft.com/office/drawing/2014/main" id="{4BAD1F52-4EC6-5786-E684-A56CEB2EEDB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097596" y="4352663"/>
            <a:ext cx="500743" cy="500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75821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5E2FE7-2608-C249-68CB-CFA2DDE095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Why we need data?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8F0F64E-3379-CAA5-5693-8602D39EF3F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342900" indent="-342900">
                  <a:buClrTx/>
                  <a:buFont typeface="Wingdings" panose="05000000000000000000" pitchFamily="2" charset="2"/>
                  <a:buChar char="v"/>
                </a:pPr>
                <a:r>
                  <a:rPr lang="en-GB" dirty="0"/>
                  <a:t>We want to quantify a particular measurement of the population</a:t>
                </a:r>
              </a:p>
              <a:p>
                <a:pPr marL="342900" indent="-342900">
                  <a:buClrTx/>
                  <a:buFont typeface="Wingdings" panose="05000000000000000000" pitchFamily="2" charset="2"/>
                  <a:buChar char="v"/>
                </a:pPr>
                <a:r>
                  <a:rPr lang="en-GB" dirty="0"/>
                  <a:t>For example, </a:t>
                </a:r>
              </a:p>
              <a:p>
                <a:pPr marL="571500" lvl="1" indent="-342900">
                  <a:buClrTx/>
                  <a:buFont typeface="Wingdings" panose="05000000000000000000" pitchFamily="2" charset="2"/>
                  <a:buChar char="v"/>
                </a:pPr>
                <a:r>
                  <a:rPr lang="en-GB" dirty="0"/>
                  <a:t>the </a:t>
                </a:r>
                <a:r>
                  <a:rPr lang="en-GB" b="1" dirty="0"/>
                  <a:t>proportion</a:t>
                </a:r>
                <a:r>
                  <a:rPr lang="en-GB" dirty="0"/>
                  <a:t> of a disease between </a:t>
                </a:r>
                <a:r>
                  <a:rPr lang="en-GB" b="1" dirty="0"/>
                  <a:t>all</a:t>
                </a:r>
                <a:r>
                  <a:rPr lang="en-GB" dirty="0"/>
                  <a:t> 9 years-old children in the UK</a:t>
                </a:r>
              </a:p>
              <a:p>
                <a:pPr marL="571500" lvl="1" indent="-342900">
                  <a:buClrTx/>
                  <a:buFont typeface="Wingdings" panose="05000000000000000000" pitchFamily="2" charset="2"/>
                  <a:buChar char="v"/>
                </a:pPr>
                <a:r>
                  <a:rPr lang="en-GB" dirty="0"/>
                  <a:t>the </a:t>
                </a:r>
                <a:r>
                  <a:rPr lang="en-GB" b="1" dirty="0"/>
                  <a:t>average</a:t>
                </a:r>
                <a:r>
                  <a:rPr lang="en-GB" dirty="0"/>
                  <a:t> spread of a virus between </a:t>
                </a:r>
                <a:r>
                  <a:rPr lang="en-GB" b="1" dirty="0"/>
                  <a:t>all </a:t>
                </a:r>
                <a:r>
                  <a:rPr lang="en-GB" dirty="0"/>
                  <a:t>adults</a:t>
                </a:r>
              </a:p>
              <a:p>
                <a:pPr marL="342900" indent="-342900">
                  <a:buClrTx/>
                  <a:buFont typeface="Wingdings" panose="05000000000000000000" pitchFamily="2" charset="2"/>
                  <a:buChar char="v"/>
                </a:pPr>
                <a:r>
                  <a:rPr lang="en-GB" dirty="0"/>
                  <a:t>These measurements are called </a:t>
                </a:r>
                <a:r>
                  <a:rPr lang="en-GB" b="1" dirty="0">
                    <a:solidFill>
                      <a:srgbClr val="C00000"/>
                    </a:solidFill>
                  </a:rPr>
                  <a:t>parameters</a:t>
                </a:r>
                <a:r>
                  <a:rPr lang="en-GB" dirty="0"/>
                  <a:t>, and are usually denoted with a letter from the Greek alphabet, for example </a:t>
                </a:r>
                <a14:m>
                  <m:oMath xmlns:m="http://schemas.openxmlformats.org/officeDocument/2006/math">
                    <m:r>
                      <a:rPr lang="en-GB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𝝅</m:t>
                    </m:r>
                  </m:oMath>
                </a14:m>
                <a:r>
                  <a:rPr lang="en-GB" dirty="0"/>
                  <a:t> or </a:t>
                </a:r>
                <a14:m>
                  <m:oMath xmlns:m="http://schemas.openxmlformats.org/officeDocument/2006/math">
                    <m:r>
                      <a:rPr lang="en-GB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𝝁</m:t>
                    </m:r>
                  </m:oMath>
                </a14:m>
                <a:endParaRPr lang="en-GB" b="1" dirty="0"/>
              </a:p>
              <a:p>
                <a:pPr marL="342900" indent="-342900">
                  <a:buClrTx/>
                  <a:buFont typeface="Wingdings" panose="05000000000000000000" pitchFamily="2" charset="2"/>
                  <a:buChar char="v"/>
                </a:pPr>
                <a:r>
                  <a:rPr lang="en-US" dirty="0"/>
                  <a:t>Parameters are precise, but typically </a:t>
                </a:r>
                <a:r>
                  <a:rPr lang="en-US" b="1" dirty="0">
                    <a:solidFill>
                      <a:srgbClr val="C00000"/>
                    </a:solidFill>
                  </a:rPr>
                  <a:t>unknown</a:t>
                </a:r>
                <a:r>
                  <a:rPr lang="en-US" dirty="0"/>
                  <a:t>: we cannot control if every 9 years-old child in the UK has or not the disease, or if all adults contracted the virus, so we will never know its value!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8F0F64E-3379-CAA5-5693-8602D39EF3F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00" t="-60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960317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5E2FE7-2608-C249-68CB-CFA2DDE095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sample to the rescue!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8F0F64E-3379-CAA5-5693-8602D39EF3F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342900" indent="-342900">
                  <a:buClrTx/>
                  <a:buFont typeface="Wingdings" panose="05000000000000000000" pitchFamily="2" charset="2"/>
                  <a:buChar char="v"/>
                </a:pPr>
                <a:r>
                  <a:rPr lang="en-GB" dirty="0"/>
                  <a:t>What if we calculate the same measurements, but on the sample? </a:t>
                </a:r>
              </a:p>
              <a:p>
                <a:pPr marL="342900" indent="-342900">
                  <a:buClrTx/>
                  <a:buFont typeface="Wingdings" panose="05000000000000000000" pitchFamily="2" charset="2"/>
                  <a:buChar char="v"/>
                </a:pPr>
                <a:r>
                  <a:rPr lang="en-GB" dirty="0"/>
                  <a:t>For example, </a:t>
                </a:r>
              </a:p>
              <a:p>
                <a:pPr marL="571500" lvl="1" indent="-342900">
                  <a:buClrTx/>
                  <a:buFont typeface="Wingdings" panose="05000000000000000000" pitchFamily="2" charset="2"/>
                  <a:buChar char="v"/>
                </a:pPr>
                <a:r>
                  <a:rPr lang="en-GB" dirty="0"/>
                  <a:t>the </a:t>
                </a:r>
                <a:r>
                  <a:rPr lang="en-GB" b="1" dirty="0"/>
                  <a:t>proportion</a:t>
                </a:r>
                <a:r>
                  <a:rPr lang="en-GB" dirty="0"/>
                  <a:t> of a disease between </a:t>
                </a:r>
                <a:r>
                  <a:rPr lang="en-GB" b="1" dirty="0"/>
                  <a:t>50</a:t>
                </a:r>
                <a:r>
                  <a:rPr lang="en-GB" dirty="0"/>
                  <a:t> 9 years-old children from a school in Bath</a:t>
                </a:r>
              </a:p>
              <a:p>
                <a:pPr marL="571500" lvl="1" indent="-342900">
                  <a:buClrTx/>
                  <a:buFont typeface="Wingdings" panose="05000000000000000000" pitchFamily="2" charset="2"/>
                  <a:buChar char="v"/>
                </a:pPr>
                <a:r>
                  <a:rPr lang="en-GB" dirty="0"/>
                  <a:t>the </a:t>
                </a:r>
                <a:r>
                  <a:rPr lang="en-GB" b="1" dirty="0"/>
                  <a:t>average</a:t>
                </a:r>
                <a:r>
                  <a:rPr lang="en-GB" dirty="0"/>
                  <a:t> spread of a virus between </a:t>
                </a:r>
                <a:r>
                  <a:rPr lang="en-GB" b="1" dirty="0"/>
                  <a:t>2000 </a:t>
                </a:r>
                <a:r>
                  <a:rPr lang="en-GB" dirty="0"/>
                  <a:t>adults in </a:t>
                </a:r>
                <a:r>
                  <a:rPr lang="en-GB" b="1" dirty="0"/>
                  <a:t>10 </a:t>
                </a:r>
                <a:r>
                  <a:rPr lang="en-GB" dirty="0"/>
                  <a:t>cities</a:t>
                </a:r>
              </a:p>
              <a:p>
                <a:pPr marL="342900" indent="-342900">
                  <a:buClrTx/>
                  <a:buFont typeface="Wingdings" panose="05000000000000000000" pitchFamily="2" charset="2"/>
                  <a:buChar char="v"/>
                </a:pPr>
                <a:r>
                  <a:rPr lang="en-GB" dirty="0"/>
                  <a:t>These measurements are called </a:t>
                </a:r>
                <a:r>
                  <a:rPr lang="en-GB" b="1" dirty="0">
                    <a:solidFill>
                      <a:srgbClr val="C00000"/>
                    </a:solidFill>
                  </a:rPr>
                  <a:t>statistics</a:t>
                </a:r>
                <a:r>
                  <a:rPr lang="en-GB" dirty="0"/>
                  <a:t>, and are usually denoted with an accented letter from the English alphabet, for example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GB" b="1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𝒑</m:t>
                        </m:r>
                      </m:e>
                    </m:acc>
                  </m:oMath>
                </a14:m>
                <a:r>
                  <a:rPr lang="en-GB" dirty="0"/>
                  <a:t> or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GB" b="1" i="1" smtClean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bar>
                  </m:oMath>
                </a14:m>
                <a:endParaRPr lang="en-GB" b="1" dirty="0"/>
              </a:p>
              <a:p>
                <a:pPr marL="342900" indent="-342900">
                  <a:buClrTx/>
                  <a:buFont typeface="Wingdings" panose="05000000000000000000" pitchFamily="2" charset="2"/>
                  <a:buChar char="v"/>
                </a:pPr>
                <a:r>
                  <a:rPr lang="en-US" dirty="0"/>
                  <a:t>Statistics are known, but </a:t>
                </a:r>
                <a:r>
                  <a:rPr lang="en-US" b="1" dirty="0">
                    <a:solidFill>
                      <a:srgbClr val="C00000"/>
                    </a:solidFill>
                  </a:rPr>
                  <a:t>imprecise</a:t>
                </a:r>
                <a:r>
                  <a:rPr lang="en-US" dirty="0"/>
                  <a:t>: they are never equal to the parameters they represent!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8F0F64E-3379-CAA5-5693-8602D39EF3F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00" t="-604" r="-5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594462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5E2FE7-2608-C249-68CB-CFA2DDE095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The important value of being a good sample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8F0F64E-3379-CAA5-5693-8602D39EF3F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342900" indent="-342900">
                  <a:buClrTx/>
                  <a:buFont typeface="Wingdings" panose="05000000000000000000" pitchFamily="2" charset="2"/>
                  <a:buChar char="v"/>
                </a:pPr>
                <a:r>
                  <a:rPr lang="en-US" dirty="0"/>
                  <a:t>There is always a margin of error around sample estimates (e.g.,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∣</m:t>
                    </m:r>
                    <m:acc>
                      <m:accPr>
                        <m:chr m:val="̂"/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acc>
                    <m:r>
                      <a:rPr lang="en-GB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𝜋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∣</m:t>
                    </m:r>
                  </m:oMath>
                </a14:m>
                <a:r>
                  <a:rPr lang="en-US" dirty="0"/>
                  <a:t> or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bar>
                          <m:barPr>
                            <m:pos m:val="top"/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ba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</m:d>
                  </m:oMath>
                </a14:m>
                <a:r>
                  <a:rPr lang="en-US" dirty="0"/>
                  <a:t>)</a:t>
                </a:r>
              </a:p>
              <a:p>
                <a:pPr marL="342900" indent="-342900">
                  <a:buClrTx/>
                  <a:buFont typeface="Wingdings" panose="05000000000000000000" pitchFamily="2" charset="2"/>
                  <a:buChar char="v"/>
                </a:pPr>
                <a:r>
                  <a:rPr lang="en-US" dirty="0"/>
                  <a:t>However, </a:t>
                </a:r>
                <a:r>
                  <a:rPr lang="en-US" dirty="0">
                    <a:solidFill>
                      <a:srgbClr val="C00000"/>
                    </a:solidFill>
                  </a:rPr>
                  <a:t>the more representative our sample is</a:t>
                </a:r>
                <a:r>
                  <a:rPr lang="en-US" dirty="0"/>
                  <a:t>, the smaller the error will be </a:t>
                </a:r>
                <a:br>
                  <a:rPr lang="en-US" dirty="0"/>
                </a:br>
                <a:r>
                  <a:rPr lang="en-US" dirty="0">
                    <a:sym typeface="Wingdings" panose="05000000000000000000" pitchFamily="2" charset="2"/>
                  </a:rPr>
                  <a:t> the more the statistics are an </a:t>
                </a:r>
                <a:r>
                  <a:rPr lang="en-US" b="1" dirty="0">
                    <a:sym typeface="Wingdings" panose="05000000000000000000" pitchFamily="2" charset="2"/>
                  </a:rPr>
                  <a:t>accurate</a:t>
                </a:r>
                <a:r>
                  <a:rPr lang="en-US" dirty="0">
                    <a:sym typeface="Wingdings" panose="05000000000000000000" pitchFamily="2" charset="2"/>
                  </a:rPr>
                  <a:t> approximation of the population parameters!</a:t>
                </a:r>
              </a:p>
              <a:p>
                <a:pPr marL="342900" indent="-342900">
                  <a:buClrTx/>
                  <a:buFont typeface="Wingdings" panose="05000000000000000000" pitchFamily="2" charset="2"/>
                  <a:buChar char="v"/>
                </a:pPr>
                <a:endParaRPr lang="en-US" dirty="0">
                  <a:sym typeface="Wingdings" panose="05000000000000000000" pitchFamily="2" charset="2"/>
                </a:endParaRPr>
              </a:p>
              <a:p>
                <a:pPr marL="342900" indent="-342900">
                  <a:buClrTx/>
                  <a:buFont typeface="Wingdings" panose="05000000000000000000" pitchFamily="2" charset="2"/>
                  <a:buChar char="v"/>
                </a:pPr>
                <a:r>
                  <a:rPr lang="en-US" dirty="0">
                    <a:sym typeface="Wingdings" panose="05000000000000000000" pitchFamily="2" charset="2"/>
                  </a:rPr>
                  <a:t>That’s why we need to have a </a:t>
                </a:r>
                <a:r>
                  <a:rPr lang="en-US" b="1" dirty="0">
                    <a:sym typeface="Wingdings" panose="05000000000000000000" pitchFamily="2" charset="2"/>
                  </a:rPr>
                  <a:t>randomly selected </a:t>
                </a:r>
                <a:r>
                  <a:rPr lang="en-US" dirty="0">
                    <a:sym typeface="Wingdings" panose="05000000000000000000" pitchFamily="2" charset="2"/>
                  </a:rPr>
                  <a:t>and </a:t>
                </a:r>
                <a:r>
                  <a:rPr lang="en-US" b="1" dirty="0">
                    <a:sym typeface="Wingdings" panose="05000000000000000000" pitchFamily="2" charset="2"/>
                  </a:rPr>
                  <a:t>representative </a:t>
                </a:r>
                <a:r>
                  <a:rPr lang="en-US" dirty="0">
                    <a:sym typeface="Wingdings" panose="05000000000000000000" pitchFamily="2" charset="2"/>
                  </a:rPr>
                  <a:t>sample.</a:t>
                </a:r>
              </a:p>
              <a:p>
                <a:pPr marL="342900" indent="-342900">
                  <a:buClrTx/>
                  <a:buFont typeface="Wingdings" panose="05000000000000000000" pitchFamily="2" charset="2"/>
                  <a:buChar char="v"/>
                </a:pPr>
                <a:endParaRPr lang="en-US" dirty="0">
                  <a:sym typeface="Wingdings" panose="05000000000000000000" pitchFamily="2" charset="2"/>
                </a:endParaRPr>
              </a:p>
              <a:p>
                <a:pPr marL="342900" indent="-342900">
                  <a:buClrTx/>
                  <a:buFont typeface="Wingdings" panose="05000000000000000000" pitchFamily="2" charset="2"/>
                  <a:buChar char="v"/>
                </a:pPr>
                <a:endParaRPr lang="en-US" dirty="0">
                  <a:sym typeface="Wingdings" panose="05000000000000000000" pitchFamily="2" charset="2"/>
                </a:endParaRPr>
              </a:p>
              <a:p>
                <a:pPr marL="342900" indent="-342900">
                  <a:buClrTx/>
                  <a:buFont typeface="Wingdings" panose="05000000000000000000" pitchFamily="2" charset="2"/>
                  <a:buChar char="v"/>
                </a:pPr>
                <a:endParaRPr lang="en-US" dirty="0">
                  <a:sym typeface="Wingdings" panose="05000000000000000000" pitchFamily="2" charset="2"/>
                </a:endParaRPr>
              </a:p>
              <a:p>
                <a:pPr marL="342900" indent="-342900">
                  <a:buClrTx/>
                  <a:buFont typeface="Wingdings" panose="05000000000000000000" pitchFamily="2" charset="2"/>
                  <a:buChar char="v"/>
                </a:pPr>
                <a:endParaRPr lang="en-US" dirty="0">
                  <a:sym typeface="Wingdings" panose="05000000000000000000" pitchFamily="2" charset="2"/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8F0F64E-3379-CAA5-5693-8602D39EF3F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00" t="-60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542031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5E2FE7-2608-C249-68CB-CFA2DDE095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Workshop interval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8F0F64E-3379-CAA5-5693-8602D39EF3F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>
                  <a:buClrTx/>
                </a:pPr>
                <a:endParaRPr lang="en-US" dirty="0">
                  <a:sym typeface="Wingdings" panose="05000000000000000000" pitchFamily="2" charset="2"/>
                </a:endParaRPr>
              </a:p>
              <a:p>
                <a:pPr>
                  <a:buClrTx/>
                </a:pPr>
                <a:r>
                  <a:rPr lang="en-US" dirty="0">
                    <a:sym typeface="Wingdings" panose="05000000000000000000" pitchFamily="2" charset="2"/>
                  </a:rPr>
                  <a:t>Questions to ask: </a:t>
                </a:r>
              </a:p>
              <a:p>
                <a:pPr marL="342900" indent="-342900">
                  <a:buClrTx/>
                  <a:buFont typeface="Wingdings" panose="05000000000000000000" pitchFamily="2" charset="2"/>
                  <a:buChar char="v"/>
                </a:pPr>
                <a:r>
                  <a:rPr lang="en-US" dirty="0">
                    <a:sym typeface="Wingdings" panose="05000000000000000000" pitchFamily="2" charset="2"/>
                  </a:rPr>
                  <a:t>is my sample representative of the population, or is it </a:t>
                </a:r>
                <a:r>
                  <a:rPr lang="en-US" b="1" dirty="0">
                    <a:sym typeface="Wingdings" panose="05000000000000000000" pitchFamily="2" charset="2"/>
                  </a:rPr>
                  <a:t>biased</a:t>
                </a:r>
                <a:r>
                  <a:rPr lang="en-US" dirty="0">
                    <a:sym typeface="Wingdings" panose="05000000000000000000" pitchFamily="2" charset="2"/>
                  </a:rPr>
                  <a:t>, i.e., certain population members are more likely to be systematically chosen in a sample than others?</a:t>
                </a:r>
              </a:p>
              <a:p>
                <a:pPr marL="342900" indent="-342900">
                  <a:buClrTx/>
                  <a:buFont typeface="Wingdings" panose="05000000000000000000" pitchFamily="2" charset="2"/>
                  <a:buChar char="v"/>
                </a:pPr>
                <a:r>
                  <a:rPr lang="en-US" dirty="0">
                    <a:sym typeface="Wingdings" panose="05000000000000000000" pitchFamily="2" charset="2"/>
                  </a:rPr>
                  <a:t>does every member of the population have the same chance to be sampled? </a:t>
                </a:r>
              </a:p>
              <a:p>
                <a:pPr marL="342900" indent="-342900">
                  <a:buClrTx/>
                  <a:buFont typeface="Wingdings" panose="05000000000000000000" pitchFamily="2" charset="2"/>
                  <a:buChar char="v"/>
                </a:pPr>
                <a:r>
                  <a:rPr lang="en-US" dirty="0">
                    <a:sym typeface="Wingdings" panose="05000000000000000000" pitchFamily="2" charset="2"/>
                  </a:rPr>
                  <a:t>how can I be sure to represent all the characteristics of a population?</a:t>
                </a:r>
              </a:p>
              <a:p>
                <a:pPr marL="342900" indent="-342900">
                  <a:buClrTx/>
                  <a:buFont typeface="Wingdings" panose="05000000000000000000" pitchFamily="2" charset="2"/>
                  <a:buChar char="v"/>
                </a:pPr>
                <a:r>
                  <a:rPr lang="en-US" dirty="0">
                    <a:sym typeface="Wingdings" panose="05000000000000000000" pitchFamily="2" charset="2"/>
                  </a:rPr>
                  <a:t>do I know how big is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𝑁</m:t>
                    </m:r>
                  </m:oMath>
                </a14:m>
                <a:r>
                  <a:rPr lang="en-US" dirty="0">
                    <a:sym typeface="Wingdings" panose="05000000000000000000" pitchFamily="2" charset="2"/>
                  </a:rPr>
                  <a:t>? and how big should be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𝑛</m:t>
                    </m:r>
                  </m:oMath>
                </a14:m>
                <a:r>
                  <a:rPr lang="en-US" dirty="0">
                    <a:sym typeface="Wingdings" panose="05000000000000000000" pitchFamily="2" charset="2"/>
                  </a:rPr>
                  <a:t>?</a:t>
                </a:r>
              </a:p>
              <a:p>
                <a:pPr marL="342900" indent="-342900">
                  <a:buClrTx/>
                  <a:buFont typeface="Wingdings" panose="05000000000000000000" pitchFamily="2" charset="2"/>
                  <a:buChar char="v"/>
                </a:pPr>
                <a:endParaRPr lang="en-US" dirty="0">
                  <a:sym typeface="Wingdings" panose="05000000000000000000" pitchFamily="2" charset="2"/>
                </a:endParaRPr>
              </a:p>
              <a:p>
                <a:pPr marL="342900" indent="-342900">
                  <a:buClrTx/>
                  <a:buFont typeface="Wingdings" panose="05000000000000000000" pitchFamily="2" charset="2"/>
                  <a:buChar char="v"/>
                </a:pPr>
                <a:endParaRPr lang="en-US" dirty="0">
                  <a:sym typeface="Wingdings" panose="05000000000000000000" pitchFamily="2" charset="2"/>
                </a:endParaRPr>
              </a:p>
              <a:p>
                <a:pPr marL="342900" indent="-342900">
                  <a:buClrTx/>
                  <a:buFont typeface="Wingdings" panose="05000000000000000000" pitchFamily="2" charset="2"/>
                  <a:buChar char="v"/>
                </a:pPr>
                <a:endParaRPr lang="en-US" dirty="0">
                  <a:sym typeface="Wingdings" panose="05000000000000000000" pitchFamily="2" charset="2"/>
                </a:endParaRPr>
              </a:p>
              <a:p>
                <a:pPr marL="342900" indent="-342900">
                  <a:buClrTx/>
                  <a:buFont typeface="Wingdings" panose="05000000000000000000" pitchFamily="2" charset="2"/>
                  <a:buChar char="v"/>
                </a:pPr>
                <a:endParaRPr lang="en-US" dirty="0">
                  <a:sym typeface="Wingdings" panose="05000000000000000000" pitchFamily="2" charset="2"/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8F0F64E-3379-CAA5-5693-8602D39EF3F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5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109429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5E2FE7-2608-C249-68CB-CFA2DDE095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Recap from the workshop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8F0F64E-3379-CAA5-5693-8602D39EF3F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342900" indent="-342900">
                  <a:buClrTx/>
                  <a:buFont typeface="Wingdings" panose="05000000000000000000" pitchFamily="2" charset="2"/>
                  <a:buChar char="v"/>
                </a:pPr>
                <a:r>
                  <a:rPr lang="en-US" dirty="0">
                    <a:sym typeface="Wingdings" panose="05000000000000000000" pitchFamily="2" charset="2"/>
                  </a:rPr>
                  <a:t>The bigger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𝑛</m:t>
                    </m:r>
                  </m:oMath>
                </a14:m>
                <a:r>
                  <a:rPr lang="en-US" dirty="0">
                    <a:sym typeface="Wingdings" panose="05000000000000000000" pitchFamily="2" charset="2"/>
                  </a:rPr>
                  <a:t> is, the more representative our sample is (because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𝑛</m:t>
                    </m:r>
                  </m:oMath>
                </a14:m>
                <a:r>
                  <a:rPr lang="en-US" dirty="0">
                    <a:sym typeface="Wingdings" panose="05000000000000000000" pitchFamily="2" charset="2"/>
                  </a:rPr>
                  <a:t> is nearer then before to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𝑁</m:t>
                    </m:r>
                  </m:oMath>
                </a14:m>
                <a:r>
                  <a:rPr lang="en-US" dirty="0">
                    <a:sym typeface="Wingdings" panose="05000000000000000000" pitchFamily="2" charset="2"/>
                  </a:rPr>
                  <a:t>), and therefore the more accurate our statistics will be</a:t>
                </a:r>
              </a:p>
              <a:p>
                <a:pPr marL="342900" indent="-342900">
                  <a:buClrTx/>
                  <a:buFont typeface="Wingdings" panose="05000000000000000000" pitchFamily="2" charset="2"/>
                  <a:buChar char="v"/>
                </a:pPr>
                <a:r>
                  <a:rPr lang="en-US" dirty="0">
                    <a:sym typeface="Wingdings" panose="05000000000000000000" pitchFamily="2" charset="2"/>
                  </a:rPr>
                  <a:t>A big (but not too big)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𝑛</m:t>
                    </m:r>
                  </m:oMath>
                </a14:m>
                <a:r>
                  <a:rPr lang="en-US" dirty="0">
                    <a:sym typeface="Wingdings" panose="05000000000000000000" pitchFamily="2" charset="2"/>
                  </a:rPr>
                  <a:t> permits us to have a non-biased sampled: we have a better idea of the proportion of different groups present in the population</a:t>
                </a:r>
              </a:p>
              <a:p>
                <a:pPr marL="342900" indent="-342900">
                  <a:buClrTx/>
                  <a:buFont typeface="Wingdings" panose="05000000000000000000" pitchFamily="2" charset="2"/>
                  <a:buChar char="v"/>
                </a:pPr>
                <a:r>
                  <a:rPr lang="en-US" dirty="0">
                    <a:sym typeface="Wingdings" panose="05000000000000000000" pitchFamily="2" charset="2"/>
                  </a:rPr>
                  <a:t>If we have time and money, we might also be able to estimate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𝑁</m:t>
                    </m:r>
                  </m:oMath>
                </a14:m>
                <a:r>
                  <a:rPr lang="en-US" dirty="0">
                    <a:sym typeface="Wingdings" panose="05000000000000000000" pitchFamily="2" charset="2"/>
                  </a:rPr>
                  <a:t> using the capture-recapture method</a:t>
                </a:r>
              </a:p>
              <a:p>
                <a:pPr marL="342900" indent="-342900">
                  <a:buClrTx/>
                  <a:buFont typeface="Wingdings" panose="05000000000000000000" pitchFamily="2" charset="2"/>
                  <a:buChar char="v"/>
                </a:pPr>
                <a:endParaRPr lang="en-US" dirty="0">
                  <a:sym typeface="Wingdings" panose="05000000000000000000" pitchFamily="2" charset="2"/>
                </a:endParaRPr>
              </a:p>
              <a:p>
                <a:pPr marL="342900" indent="-342900">
                  <a:buClrTx/>
                  <a:buFont typeface="Wingdings" panose="05000000000000000000" pitchFamily="2" charset="2"/>
                  <a:buChar char="v"/>
                </a:pPr>
                <a:r>
                  <a:rPr lang="en-US" dirty="0">
                    <a:sym typeface="Wingdings" panose="05000000000000000000" pitchFamily="2" charset="2"/>
                  </a:rPr>
                  <a:t>And then?</a:t>
                </a:r>
              </a:p>
              <a:p>
                <a:pPr marL="342900" indent="-342900">
                  <a:buClrTx/>
                  <a:buFont typeface="Wingdings" panose="05000000000000000000" pitchFamily="2" charset="2"/>
                  <a:buChar char="v"/>
                </a:pPr>
                <a:endParaRPr lang="en-US" dirty="0">
                  <a:sym typeface="Wingdings" panose="05000000000000000000" pitchFamily="2" charset="2"/>
                </a:endParaRPr>
              </a:p>
              <a:p>
                <a:pPr marL="342900" indent="-342900">
                  <a:buClrTx/>
                  <a:buFont typeface="Wingdings" panose="05000000000000000000" pitchFamily="2" charset="2"/>
                  <a:buChar char="v"/>
                </a:pPr>
                <a:endParaRPr lang="en-US" dirty="0">
                  <a:sym typeface="Wingdings" panose="05000000000000000000" pitchFamily="2" charset="2"/>
                </a:endParaRPr>
              </a:p>
              <a:p>
                <a:pPr marL="342900" indent="-342900">
                  <a:buClrTx/>
                  <a:buFont typeface="Wingdings" panose="05000000000000000000" pitchFamily="2" charset="2"/>
                  <a:buChar char="v"/>
                </a:pPr>
                <a:endParaRPr lang="en-US" dirty="0">
                  <a:sym typeface="Wingdings" panose="05000000000000000000" pitchFamily="2" charset="2"/>
                </a:endParaRPr>
              </a:p>
              <a:p>
                <a:pPr marL="342900" indent="-342900">
                  <a:buClrTx/>
                  <a:buFont typeface="Wingdings" panose="05000000000000000000" pitchFamily="2" charset="2"/>
                  <a:buChar char="v"/>
                </a:pPr>
                <a:endParaRPr lang="en-US" dirty="0">
                  <a:sym typeface="Wingdings" panose="05000000000000000000" pitchFamily="2" charset="2"/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8F0F64E-3379-CAA5-5693-8602D39EF3F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00" t="-60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451433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5E2FE7-2608-C249-68CB-CFA2DDE095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Incidence vs prevalence of a disease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8F0F64E-3379-CAA5-5693-8602D39EF3F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342900" indent="-342900">
                  <a:buClrTx/>
                  <a:buFont typeface="Wingdings" panose="05000000000000000000" pitchFamily="2" charset="2"/>
                  <a:buChar char="v"/>
                </a:pPr>
                <a:r>
                  <a:rPr lang="en-US" dirty="0">
                    <a:sym typeface="Wingdings" panose="05000000000000000000" pitchFamily="2" charset="2"/>
                  </a:rPr>
                  <a:t>To describe how often a disease occurs in a population, we have to calculate different measures of </a:t>
                </a:r>
                <a:r>
                  <a:rPr lang="en-US" b="1" dirty="0">
                    <a:sym typeface="Wingdings" panose="05000000000000000000" pitchFamily="2" charset="2"/>
                  </a:rPr>
                  <a:t>disease frequency</a:t>
                </a:r>
              </a:p>
              <a:p>
                <a:pPr marL="342900" indent="-342900">
                  <a:buClrTx/>
                  <a:buFont typeface="Wingdings" panose="05000000000000000000" pitchFamily="2" charset="2"/>
                  <a:buChar char="v"/>
                </a:pPr>
                <a:r>
                  <a:rPr lang="en-US" dirty="0">
                    <a:sym typeface="Wingdings" panose="05000000000000000000" pitchFamily="2" charset="2"/>
                  </a:rPr>
                  <a:t>You have seen already the </a:t>
                </a:r>
                <a:r>
                  <a:rPr lang="en-US" b="1" dirty="0">
                    <a:solidFill>
                      <a:srgbClr val="C00000"/>
                    </a:solidFill>
                    <a:sym typeface="Wingdings" panose="05000000000000000000" pitchFamily="2" charset="2"/>
                  </a:rPr>
                  <a:t>infection rate</a:t>
                </a:r>
                <a:r>
                  <a:rPr lang="en-US" dirty="0">
                    <a:sym typeface="Wingdings" panose="05000000000000000000" pitchFamily="2" charset="2"/>
                  </a:rPr>
                  <a:t>, or </a:t>
                </a:r>
                <a:r>
                  <a:rPr lang="en-US" b="1" dirty="0">
                    <a:solidFill>
                      <a:srgbClr val="C00000"/>
                    </a:solidFill>
                    <a:sym typeface="Wingdings" panose="05000000000000000000" pitchFamily="2" charset="2"/>
                  </a:rPr>
                  <a:t>risk</a:t>
                </a:r>
                <a:r>
                  <a:rPr lang="en-US" dirty="0">
                    <a:sym typeface="Wingdings" panose="05000000000000000000" pitchFamily="2" charset="2"/>
                  </a:rPr>
                  <a:t> (how fast a disease is spreading)</a:t>
                </a:r>
              </a:p>
              <a:p>
                <a:pPr marL="342900" indent="-342900">
                  <a:buClrTx/>
                  <a:buFont typeface="Wingdings" panose="05000000000000000000" pitchFamily="2" charset="2"/>
                  <a:buChar char="v"/>
                </a:pPr>
                <a:r>
                  <a:rPr lang="en-US" dirty="0">
                    <a:sym typeface="Wingdings" panose="05000000000000000000" pitchFamily="2" charset="2"/>
                  </a:rPr>
                  <a:t>Let </a:t>
                </a:r>
              </a:p>
              <a:p>
                <a:pPr>
                  <a:buClrTx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𝑛𝑒𝑤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 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𝑥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𝑡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=</m:t>
                      </m:r>
                      <m:r>
                        <a:rPr lang="en-GB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𝑛𝑢𝑚𝑏𝑒𝑟</m:t>
                      </m:r>
                      <m:r>
                        <a:rPr lang="en-GB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𝑜𝑓</m:t>
                      </m:r>
                      <m:r>
                        <a:rPr lang="en-GB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𝑛𝑒𝑤</m:t>
                      </m:r>
                      <m:r>
                        <a:rPr lang="en-GB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𝑝𝑒𝑜𝑝𝑙𝑒</m:t>
                      </m:r>
                      <m:r>
                        <a:rPr lang="en-GB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𝑤𝑖𝑡h</m:t>
                      </m:r>
                      <m:r>
                        <a:rPr lang="en-GB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𝑑𝑖𝑠𝑒𝑎𝑠𝑒</m:t>
                      </m:r>
                      <m:r>
                        <a:rPr lang="en-GB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𝑖𝑛</m:t>
                      </m:r>
                      <m:r>
                        <a:rPr lang="en-GB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𝑡h𝑒</m:t>
                      </m:r>
                      <m:r>
                        <a:rPr lang="en-GB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𝑠𝑎𝑚𝑝𝑙𝑒</m:t>
                      </m:r>
                      <m:r>
                        <a:rPr lang="en-GB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𝑎𝑡</m:t>
                      </m:r>
                      <m:r>
                        <a:rPr lang="en-GB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𝑡𝑖𝑚𝑒</m:t>
                      </m:r>
                      <m:r>
                        <a:rPr lang="en-GB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𝑡</m:t>
                      </m:r>
                    </m:oMath>
                  </m:oMathPara>
                </a14:m>
                <a:endParaRPr lang="en-US" dirty="0">
                  <a:sym typeface="Wingdings" panose="05000000000000000000" pitchFamily="2" charset="2"/>
                </a:endParaRPr>
              </a:p>
              <a:p>
                <a:pPr>
                  <a:buClrTx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𝑛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0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=</m:t>
                      </m:r>
                      <m:r>
                        <a:rPr lang="en-GB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𝑛𝑢𝑚𝑏𝑒𝑟</m:t>
                      </m:r>
                      <m:r>
                        <a:rPr lang="en-GB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𝑜𝑓</m:t>
                      </m:r>
                      <m:r>
                        <a:rPr lang="en-GB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𝑝𝑒𝑜𝑝𝑙𝑒</m:t>
                      </m:r>
                      <m:r>
                        <a:rPr lang="en-GB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𝑖𝑛</m:t>
                      </m:r>
                      <m:r>
                        <a:rPr lang="en-GB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𝑡h𝑒</m:t>
                      </m:r>
                      <m:r>
                        <a:rPr lang="en-GB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𝑠𝑎𝑚𝑝𝑙𝑒</m:t>
                      </m:r>
                      <m:r>
                        <a:rPr lang="en-GB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𝑎𝑡</m:t>
                      </m:r>
                      <m:r>
                        <a:rPr lang="en-GB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𝑡𝑖𝑚𝑒</m:t>
                      </m:r>
                      <m:r>
                        <a:rPr lang="en-GB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 0</m:t>
                      </m:r>
                    </m:oMath>
                  </m:oMathPara>
                </a14:m>
                <a:endParaRPr lang="en-US" dirty="0">
                  <a:sym typeface="Wingdings" panose="05000000000000000000" pitchFamily="2" charset="2"/>
                </a:endParaRPr>
              </a:p>
              <a:p>
                <a:pPr>
                  <a:buClrTx/>
                </a:pPr>
                <a:r>
                  <a:rPr lang="en-US" dirty="0">
                    <a:sym typeface="Wingdings" panose="05000000000000000000" pitchFamily="2" charset="2"/>
                  </a:rPr>
                  <a:t>     then the infection risk is </a:t>
                </a:r>
              </a:p>
              <a:p>
                <a:pPr>
                  <a:buClrTx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fPr>
                        <m:num>
                          <m:r>
                            <a:rPr lang="en-GB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𝒏𝒆𝒘</m:t>
                          </m:r>
                          <m:r>
                            <a:rPr lang="en-GB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 </m:t>
                          </m:r>
                          <m:sSub>
                            <m:sSubPr>
                              <m:ctrlPr>
                                <a:rPr lang="en-GB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</m:ctrlPr>
                            </m:sSubPr>
                            <m:e>
                              <m:r>
                                <a:rPr lang="en-GB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GB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𝒕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GB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</m:ctrlPr>
                            </m:sSubPr>
                            <m:e>
                              <m:r>
                                <a:rPr lang="en-GB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𝒏</m:t>
                              </m:r>
                            </m:e>
                            <m:sub>
                              <m:r>
                                <a:rPr lang="en-GB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𝟎</m:t>
                              </m:r>
                            </m:sub>
                          </m:sSub>
                        </m:den>
                      </m:f>
                      <m:r>
                        <a:rPr lang="en-GB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×</m:t>
                      </m:r>
                      <m:r>
                        <a:rPr lang="en-GB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𝟏𝟎𝟎</m:t>
                      </m:r>
                      <m:r>
                        <a:rPr lang="en-GB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%</m:t>
                      </m:r>
                    </m:oMath>
                  </m:oMathPara>
                </a14:m>
                <a:endParaRPr lang="en-US" b="1" dirty="0">
                  <a:solidFill>
                    <a:srgbClr val="C00000"/>
                  </a:solidFill>
                  <a:sym typeface="Wingdings" panose="05000000000000000000" pitchFamily="2" charset="2"/>
                </a:endParaRPr>
              </a:p>
              <a:p>
                <a:pPr marL="342900" indent="-342900">
                  <a:buClrTx/>
                  <a:buFont typeface="Wingdings" panose="05000000000000000000" pitchFamily="2" charset="2"/>
                  <a:buChar char="v"/>
                </a:pPr>
                <a:r>
                  <a:rPr lang="en-US" dirty="0">
                    <a:sym typeface="Wingdings" panose="05000000000000000000" pitchFamily="2" charset="2"/>
                  </a:rPr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𝑛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0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=1000</m:t>
                    </m:r>
                  </m:oMath>
                </a14:m>
                <a:r>
                  <a:rPr lang="en-US" dirty="0">
                    <a:sym typeface="Wingdings" panose="05000000000000000000" pitchFamily="2" charset="2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𝑛𝑒𝑤</m:t>
                        </m:r>
                        <m:r>
                          <a:rPr lang="en-GB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 </m:t>
                        </m:r>
                        <m:r>
                          <a:rPr lang="en-GB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𝑥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𝑡</m:t>
                        </m:r>
                      </m:sub>
                    </m:sSub>
                    <m:r>
                      <a:rPr lang="en-GB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r>
                      <a:rPr lang="en-GB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15</m:t>
                    </m:r>
                  </m:oMath>
                </a14:m>
                <a:r>
                  <a:rPr lang="en-US" dirty="0">
                    <a:sym typeface="Wingdings" panose="05000000000000000000" pitchFamily="2" charset="2"/>
                  </a:rPr>
                  <a:t>, then the risk is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1.5%</m:t>
                    </m:r>
                  </m:oMath>
                </a14:m>
                <a:r>
                  <a:rPr lang="en-US" dirty="0">
                    <a:sym typeface="Wingdings" panose="05000000000000000000" pitchFamily="2" charset="2"/>
                  </a:rPr>
                  <a:t>  (</a:t>
                </a:r>
                <a:r>
                  <a:rPr lang="en-US" dirty="0" err="1">
                    <a:sym typeface="Wingdings" panose="05000000000000000000" pitchFamily="2" charset="2"/>
                  </a:rPr>
                  <a:t>Aminat’s</a:t>
                </a:r>
                <a:r>
                  <a:rPr lang="en-US" dirty="0">
                    <a:sym typeface="Wingdings" panose="05000000000000000000" pitchFamily="2" charset="2"/>
                  </a:rPr>
                  <a:t> example)</a:t>
                </a:r>
              </a:p>
              <a:p>
                <a:pPr>
                  <a:buClrTx/>
                </a:pPr>
                <a:endParaRPr lang="en-US" dirty="0">
                  <a:sym typeface="Wingdings" panose="05000000000000000000" pitchFamily="2" charset="2"/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8F0F64E-3379-CAA5-5693-8602D39EF3F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00" t="-60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808913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5E2FE7-2608-C249-68CB-CFA2DDE095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Incidence vs prevalence of a disease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8F0F64E-3379-CAA5-5693-8602D39EF3F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09600" y="2106204"/>
                <a:ext cx="10972800" cy="4369242"/>
              </a:xfrm>
            </p:spPr>
            <p:txBody>
              <a:bodyPr>
                <a:normAutofit/>
              </a:bodyPr>
              <a:lstStyle/>
              <a:p>
                <a:pPr marL="342900" indent="-342900">
                  <a:buClrTx/>
                  <a:buFont typeface="Wingdings" panose="05000000000000000000" pitchFamily="2" charset="2"/>
                  <a:buChar char="v"/>
                </a:pPr>
                <a:r>
                  <a:rPr lang="en-US" dirty="0">
                    <a:sym typeface="Wingdings" panose="05000000000000000000" pitchFamily="2" charset="2"/>
                  </a:rPr>
                  <a:t>Related to the infection rate, we can compute the </a:t>
                </a:r>
                <a:r>
                  <a:rPr lang="en-US" b="1" dirty="0">
                    <a:solidFill>
                      <a:srgbClr val="C00000"/>
                    </a:solidFill>
                    <a:sym typeface="Wingdings" panose="05000000000000000000" pitchFamily="2" charset="2"/>
                  </a:rPr>
                  <a:t>incidence rate</a:t>
                </a:r>
                <a:r>
                  <a:rPr lang="en-US" dirty="0">
                    <a:sym typeface="Wingdings" panose="05000000000000000000" pitchFamily="2" charset="2"/>
                  </a:rPr>
                  <a:t> of a disease: how fast a disease is spreading in a particular time frame</a:t>
                </a:r>
              </a:p>
              <a:p>
                <a:pPr marL="342900" indent="-342900">
                  <a:buClrTx/>
                  <a:buFont typeface="Wingdings" panose="05000000000000000000" pitchFamily="2" charset="2"/>
                  <a:buChar char="v"/>
                </a:pPr>
                <a:r>
                  <a:rPr lang="en-US" dirty="0">
                    <a:sym typeface="Wingdings" panose="05000000000000000000" pitchFamily="2" charset="2"/>
                  </a:rPr>
                  <a:t>In other words, we are counting the number of new cases over the total amount of time that each person in the sample is at risk of the disease during a specific period of time.</a:t>
                </a:r>
              </a:p>
              <a:p>
                <a:pPr marL="342900" indent="-342900">
                  <a:buClrTx/>
                  <a:buFont typeface="Wingdings" panose="05000000000000000000" pitchFamily="2" charset="2"/>
                  <a:buChar char="v"/>
                </a:pPr>
                <a:r>
                  <a:rPr lang="en-US" dirty="0">
                    <a:sym typeface="Wingdings" panose="05000000000000000000" pitchFamily="2" charset="2"/>
                  </a:rPr>
                  <a:t>Let </a:t>
                </a:r>
              </a:p>
              <a:p>
                <a:pPr>
                  <a:buClrTx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𝑛𝑒𝑤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 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𝑥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𝑡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=</m:t>
                      </m:r>
                      <m:r>
                        <a:rPr lang="en-GB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𝑛𝑢𝑚𝑏𝑒𝑟</m:t>
                      </m:r>
                      <m:r>
                        <a:rPr lang="en-GB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𝑜𝑓</m:t>
                      </m:r>
                      <m:r>
                        <a:rPr lang="en-GB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𝑛𝑒𝑤</m:t>
                      </m:r>
                      <m:r>
                        <a:rPr lang="en-GB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𝑝𝑒𝑜𝑝𝑙𝑒</m:t>
                      </m:r>
                      <m:r>
                        <a:rPr lang="en-GB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𝑤𝑖𝑡h</m:t>
                      </m:r>
                      <m:r>
                        <a:rPr lang="en-GB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𝑑𝑖𝑠𝑒𝑎𝑠𝑒</m:t>
                      </m:r>
                      <m:r>
                        <a:rPr lang="en-GB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𝑖𝑛</m:t>
                      </m:r>
                      <m:r>
                        <a:rPr lang="en-GB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𝑡h𝑒</m:t>
                      </m:r>
                      <m:r>
                        <a:rPr lang="en-GB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𝑠𝑎𝑚𝑝𝑙𝑒</m:t>
                      </m:r>
                      <m:r>
                        <a:rPr lang="en-GB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𝑎𝑡</m:t>
                      </m:r>
                      <m:r>
                        <a:rPr lang="en-GB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𝑡𝑖𝑚𝑒</m:t>
                      </m:r>
                      <m:r>
                        <a:rPr lang="en-GB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𝑡</m:t>
                      </m:r>
                    </m:oMath>
                  </m:oMathPara>
                </a14:m>
                <a:endParaRPr lang="en-US" dirty="0">
                  <a:sym typeface="Wingdings" panose="05000000000000000000" pitchFamily="2" charset="2"/>
                </a:endParaRPr>
              </a:p>
              <a:p>
                <a:pPr>
                  <a:buClrTx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𝑛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𝑡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=</m:t>
                      </m:r>
                      <m:r>
                        <a:rPr lang="en-GB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𝑛𝑢𝑚𝑏𝑒𝑟</m:t>
                      </m:r>
                      <m:r>
                        <a:rPr lang="en-GB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𝑜𝑓</m:t>
                      </m:r>
                      <m:r>
                        <a:rPr lang="en-GB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𝑝𝑒𝑜𝑝𝑙𝑒</m:t>
                      </m:r>
                      <m:r>
                        <a:rPr lang="en-GB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𝑖𝑛</m:t>
                      </m:r>
                      <m:r>
                        <a:rPr lang="en-GB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𝑡h𝑒</m:t>
                      </m:r>
                      <m:r>
                        <a:rPr lang="en-GB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𝑠𝑎𝑚𝑝𝑙𝑒</m:t>
                      </m:r>
                      <m:r>
                        <a:rPr lang="en-GB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𝑎𝑡</m:t>
                      </m:r>
                      <m:r>
                        <a:rPr lang="en-GB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𝑡𝑖𝑚𝑒</m:t>
                      </m:r>
                      <m:r>
                        <a:rPr lang="en-GB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𝑡</m:t>
                      </m:r>
                    </m:oMath>
                  </m:oMathPara>
                </a14:m>
                <a:endParaRPr lang="en-GB" b="0" dirty="0">
                  <a:sym typeface="Wingdings" panose="05000000000000000000" pitchFamily="2" charset="2"/>
                </a:endParaRPr>
              </a:p>
              <a:p>
                <a:pPr>
                  <a:buClrTx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𝑡</m:t>
                      </m:r>
                      <m:r>
                        <a:rPr lang="en-GB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=</m:t>
                      </m:r>
                      <m:r>
                        <a:rPr lang="en-GB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𝑡𝑖𝑚𝑒</m:t>
                      </m:r>
                      <m:r>
                        <a:rPr lang="en-GB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𝑜𝑓</m:t>
                      </m:r>
                      <m:r>
                        <a:rPr lang="en-GB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𝑖𝑛𝑡𝑒𝑟𝑒𝑠𝑡</m:t>
                      </m:r>
                    </m:oMath>
                  </m:oMathPara>
                </a14:m>
                <a:endParaRPr lang="en-US" dirty="0">
                  <a:sym typeface="Wingdings" panose="05000000000000000000" pitchFamily="2" charset="2"/>
                </a:endParaRPr>
              </a:p>
              <a:p>
                <a:pPr>
                  <a:buClrTx/>
                </a:pPr>
                <a:r>
                  <a:rPr lang="en-US" dirty="0">
                    <a:sym typeface="Wingdings" panose="05000000000000000000" pitchFamily="2" charset="2"/>
                  </a:rPr>
                  <a:t>     then the incidence rate is </a:t>
                </a:r>
              </a:p>
              <a:p>
                <a:pPr>
                  <a:buClrTx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fPr>
                        <m:num>
                          <m:r>
                            <a:rPr lang="en-GB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𝒏𝒆𝒘</m:t>
                          </m:r>
                          <m:r>
                            <a:rPr lang="en-GB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 </m:t>
                          </m:r>
                          <m:sSub>
                            <m:sSubPr>
                              <m:ctrlPr>
                                <a:rPr lang="en-GB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</m:ctrlPr>
                            </m:sSubPr>
                            <m:e>
                              <m:r>
                                <a:rPr lang="en-GB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GB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𝒕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GB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</m:ctrlPr>
                            </m:sSubPr>
                            <m:e>
                              <m:r>
                                <a:rPr lang="en-GB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𝒏</m:t>
                              </m:r>
                            </m:e>
                            <m:sub>
                              <m:r>
                                <a:rPr lang="en-GB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𝒕</m:t>
                              </m:r>
                            </m:sub>
                          </m:sSub>
                          <m:r>
                            <a:rPr lang="en-GB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×</m:t>
                          </m:r>
                          <m:r>
                            <a:rPr lang="en-GB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𝒕</m:t>
                          </m:r>
                        </m:den>
                      </m:f>
                      <m:r>
                        <a:rPr lang="en-GB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×</m:t>
                      </m:r>
                      <m:r>
                        <a:rPr lang="en-GB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𝟏𝟎𝟎</m:t>
                      </m:r>
                      <m:r>
                        <a:rPr lang="en-GB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%</m:t>
                      </m:r>
                    </m:oMath>
                  </m:oMathPara>
                </a14:m>
                <a:endParaRPr lang="en-US" b="1" dirty="0">
                  <a:sym typeface="Wingdings" panose="05000000000000000000" pitchFamily="2" charset="2"/>
                </a:endParaRPr>
              </a:p>
              <a:p>
                <a:pPr>
                  <a:buClrTx/>
                </a:pPr>
                <a:endParaRPr lang="en-US" dirty="0">
                  <a:sym typeface="Wingdings" panose="05000000000000000000" pitchFamily="2" charset="2"/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8F0F64E-3379-CAA5-5693-8602D39EF3F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2106204"/>
                <a:ext cx="10972800" cy="4369242"/>
              </a:xfrm>
              <a:blipFill>
                <a:blip r:embed="rId2"/>
                <a:stretch>
                  <a:fillRect l="-500" t="-55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855367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5E2FE7-2608-C249-68CB-CFA2DDE095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Incidence vs prevalence of a disease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8F0F64E-3379-CAA5-5693-8602D39EF3F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09600" y="2106204"/>
                <a:ext cx="10972800" cy="4369242"/>
              </a:xfrm>
            </p:spPr>
            <p:txBody>
              <a:bodyPr>
                <a:normAutofit/>
              </a:bodyPr>
              <a:lstStyle/>
              <a:p>
                <a:pPr marL="342900" indent="-342900">
                  <a:buClrTx/>
                  <a:buFont typeface="Wingdings" panose="05000000000000000000" pitchFamily="2" charset="2"/>
                  <a:buChar char="v"/>
                </a:pPr>
                <a:r>
                  <a:rPr lang="en-US" dirty="0">
                    <a:sym typeface="Wingdings" panose="05000000000000000000" pitchFamily="2" charset="2"/>
                  </a:rPr>
                  <a:t>We can also compute the </a:t>
                </a:r>
                <a:r>
                  <a:rPr lang="en-US" b="1" dirty="0">
                    <a:solidFill>
                      <a:srgbClr val="C00000"/>
                    </a:solidFill>
                    <a:sym typeface="Wingdings" panose="05000000000000000000" pitchFamily="2" charset="2"/>
                  </a:rPr>
                  <a:t>prevalence</a:t>
                </a:r>
                <a:r>
                  <a:rPr lang="en-US" dirty="0">
                    <a:sym typeface="Wingdings" panose="05000000000000000000" pitchFamily="2" charset="2"/>
                  </a:rPr>
                  <a:t> of a disease: the number of existing cases of that disease</a:t>
                </a:r>
              </a:p>
              <a:p>
                <a:pPr marL="342900" indent="-342900">
                  <a:buClrTx/>
                  <a:buFont typeface="Wingdings" panose="05000000000000000000" pitchFamily="2" charset="2"/>
                  <a:buChar char="v"/>
                </a:pPr>
                <a:r>
                  <a:rPr lang="en-US" dirty="0">
                    <a:sym typeface="Wingdings" panose="05000000000000000000" pitchFamily="2" charset="2"/>
                  </a:rPr>
                  <a:t>Let </a:t>
                </a:r>
              </a:p>
              <a:p>
                <a:pPr>
                  <a:buClrTx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𝑥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𝑡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=</m:t>
                      </m:r>
                      <m:r>
                        <a:rPr lang="en-GB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𝑛𝑢𝑚𝑏𝑒𝑟</m:t>
                      </m:r>
                      <m:r>
                        <a:rPr lang="en-GB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𝑜𝑓</m:t>
                      </m:r>
                      <m:r>
                        <a:rPr lang="en-GB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𝑎𝑙𝑙</m:t>
                      </m:r>
                      <m:r>
                        <a:rPr lang="en-GB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𝑝𝑒𝑜𝑝𝑙𝑒</m:t>
                      </m:r>
                      <m:r>
                        <a:rPr lang="en-GB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𝑤𝑖𝑡h</m:t>
                      </m:r>
                      <m:r>
                        <a:rPr lang="en-GB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𝑑𝑖𝑠𝑒𝑎𝑠𝑒</m:t>
                      </m:r>
                      <m:r>
                        <a:rPr lang="en-GB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𝑖𝑛</m:t>
                      </m:r>
                      <m:r>
                        <a:rPr lang="en-GB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𝑡h𝑒</m:t>
                      </m:r>
                      <m:r>
                        <a:rPr lang="en-GB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𝑠𝑎𝑚𝑝𝑙𝑒</m:t>
                      </m:r>
                      <m:r>
                        <a:rPr lang="en-GB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𝑎𝑡</m:t>
                      </m:r>
                      <m:r>
                        <a:rPr lang="en-GB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𝑡𝑖𝑚𝑒</m:t>
                      </m:r>
                      <m:r>
                        <a:rPr lang="en-GB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𝑡</m:t>
                      </m:r>
                    </m:oMath>
                  </m:oMathPara>
                </a14:m>
                <a:endParaRPr lang="en-US" dirty="0">
                  <a:sym typeface="Wingdings" panose="05000000000000000000" pitchFamily="2" charset="2"/>
                </a:endParaRPr>
              </a:p>
              <a:p>
                <a:pPr>
                  <a:buClrTx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𝑛</m:t>
                      </m:r>
                      <m:r>
                        <a:rPr lang="en-GB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=</m:t>
                      </m:r>
                      <m:r>
                        <a:rPr lang="en-GB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𝑛𝑢𝑚𝑏𝑒𝑟</m:t>
                      </m:r>
                      <m:r>
                        <a:rPr lang="en-GB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𝑜𝑓</m:t>
                      </m:r>
                      <m:r>
                        <a:rPr lang="en-GB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𝑝𝑒𝑜𝑝𝑙𝑒</m:t>
                      </m:r>
                      <m:r>
                        <a:rPr lang="en-GB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𝑖𝑛</m:t>
                      </m:r>
                      <m:r>
                        <a:rPr lang="en-GB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𝑡h𝑒</m:t>
                      </m:r>
                      <m:r>
                        <a:rPr lang="en-GB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𝑠𝑎𝑚𝑝𝑙𝑒</m:t>
                      </m:r>
                      <m:r>
                        <a:rPr lang="en-GB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𝑎𝑡</m:t>
                      </m:r>
                      <m:r>
                        <a:rPr lang="en-GB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𝑡𝑖𝑚𝑒</m:t>
                      </m:r>
                      <m:r>
                        <a:rPr lang="en-GB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𝑡</m:t>
                      </m:r>
                    </m:oMath>
                  </m:oMathPara>
                </a14:m>
                <a:endParaRPr lang="en-GB" b="0" dirty="0">
                  <a:sym typeface="Wingdings" panose="05000000000000000000" pitchFamily="2" charset="2"/>
                </a:endParaRPr>
              </a:p>
              <a:p>
                <a:pPr>
                  <a:buClrTx/>
                </a:pPr>
                <a:r>
                  <a:rPr lang="en-US" dirty="0">
                    <a:sym typeface="Wingdings" panose="05000000000000000000" pitchFamily="2" charset="2"/>
                  </a:rPr>
                  <a:t>     then the prevalence is </a:t>
                </a:r>
              </a:p>
              <a:p>
                <a:pPr>
                  <a:buClrTx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GB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</m:ctrlPr>
                            </m:sSubPr>
                            <m:e>
                              <m:r>
                                <a:rPr lang="en-GB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GB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𝒕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GB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</m:ctrlPr>
                            </m:sSubPr>
                            <m:e>
                              <m:r>
                                <a:rPr lang="en-GB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𝒏</m:t>
                              </m:r>
                            </m:e>
                            <m:sub>
                              <m:r>
                                <a:rPr lang="en-GB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𝒕</m:t>
                              </m:r>
                            </m:sub>
                          </m:sSub>
                        </m:den>
                      </m:f>
                      <m:r>
                        <a:rPr lang="en-GB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×</m:t>
                      </m:r>
                      <m:r>
                        <a:rPr lang="en-GB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𝟏𝟎𝟎</m:t>
                      </m:r>
                      <m:r>
                        <a:rPr lang="en-GB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%</m:t>
                      </m:r>
                    </m:oMath>
                  </m:oMathPara>
                </a14:m>
                <a:endParaRPr lang="en-US" b="1" dirty="0">
                  <a:sym typeface="Wingdings" panose="05000000000000000000" pitchFamily="2" charset="2"/>
                </a:endParaRPr>
              </a:p>
              <a:p>
                <a:pPr>
                  <a:buClrTx/>
                </a:pPr>
                <a:endParaRPr lang="en-US" dirty="0">
                  <a:sym typeface="Wingdings" panose="05000000000000000000" pitchFamily="2" charset="2"/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8F0F64E-3379-CAA5-5693-8602D39EF3F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2106204"/>
                <a:ext cx="10972800" cy="4369242"/>
              </a:xfrm>
              <a:blipFill>
                <a:blip r:embed="rId2"/>
                <a:stretch>
                  <a:fillRect l="-500" t="-55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308380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5E2FE7-2608-C249-68CB-CFA2DDE095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Incidence vs prevalence: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F0F64E-3379-CAA5-5693-8602D39EF3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2106204"/>
            <a:ext cx="10972800" cy="4369242"/>
          </a:xfrm>
        </p:spPr>
        <p:txBody>
          <a:bodyPr>
            <a:normAutofit/>
          </a:bodyPr>
          <a:lstStyle/>
          <a:p>
            <a:pPr>
              <a:buClrTx/>
            </a:pPr>
            <a:endParaRPr lang="en-US" b="1" dirty="0">
              <a:sym typeface="Wingdings" panose="05000000000000000000" pitchFamily="2" charset="2"/>
            </a:endParaRPr>
          </a:p>
          <a:p>
            <a:pPr>
              <a:buClrTx/>
            </a:pPr>
            <a:endParaRPr lang="en-US" dirty="0">
              <a:sym typeface="Wingdings" panose="05000000000000000000" pitchFamily="2" charset="2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03B80AA-09B7-D77D-4DF8-007AE2AA5D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7359766"/>
              </p:ext>
            </p:extLst>
          </p:nvPr>
        </p:nvGraphicFramePr>
        <p:xfrm>
          <a:off x="707053" y="2106204"/>
          <a:ext cx="8127999" cy="1752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3813076822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134381105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4263079831"/>
                    </a:ext>
                  </a:extLst>
                </a:gridCol>
              </a:tblGrid>
              <a:tr h="250751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Year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Number of children with a cold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Total number of children in the sample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593078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2021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54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500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526737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2022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84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500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276081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2023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65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500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22481717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C934E7CF-ACE7-8C20-A755-6D52E4EAF430}"/>
              </a:ext>
            </a:extLst>
          </p:cNvPr>
          <p:cNvSpPr txBox="1"/>
          <p:nvPr/>
        </p:nvSpPr>
        <p:spPr>
          <a:xfrm>
            <a:off x="707053" y="4520793"/>
            <a:ext cx="969658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ClrTx/>
              <a:buFont typeface="Wingdings" panose="05000000000000000000" pitchFamily="2" charset="2"/>
              <a:buChar char="v"/>
            </a:pPr>
            <a:r>
              <a:rPr lang="en-US" sz="2000" dirty="0">
                <a:sym typeface="Wingdings" panose="05000000000000000000" pitchFamily="2" charset="2"/>
              </a:rPr>
              <a:t>Prevalence in 2021?</a:t>
            </a:r>
          </a:p>
          <a:p>
            <a:pPr marL="342900" indent="-342900">
              <a:buClrTx/>
              <a:buFont typeface="Wingdings" panose="05000000000000000000" pitchFamily="2" charset="2"/>
              <a:buChar char="v"/>
            </a:pPr>
            <a:r>
              <a:rPr lang="en-US" sz="2000" dirty="0">
                <a:sym typeface="Wingdings" panose="05000000000000000000" pitchFamily="2" charset="2"/>
              </a:rPr>
              <a:t>Risk of cold between 2021 and 2022?</a:t>
            </a:r>
          </a:p>
          <a:p>
            <a:pPr marL="342900" indent="-342900">
              <a:buClrTx/>
              <a:buFont typeface="Wingdings" panose="05000000000000000000" pitchFamily="2" charset="2"/>
              <a:buChar char="v"/>
            </a:pPr>
            <a:r>
              <a:rPr lang="en-US" sz="2000" dirty="0">
                <a:sym typeface="Wingdings" panose="05000000000000000000" pitchFamily="2" charset="2"/>
              </a:rPr>
              <a:t>Incidence between 2021 and 2022?</a:t>
            </a:r>
          </a:p>
          <a:p>
            <a:pPr marL="342900" indent="-342900">
              <a:buClrTx/>
              <a:buFont typeface="Wingdings" panose="05000000000000000000" pitchFamily="2" charset="2"/>
              <a:buChar char="v"/>
            </a:pPr>
            <a:r>
              <a:rPr lang="en-US" sz="2000" dirty="0">
                <a:sym typeface="Wingdings" panose="05000000000000000000" pitchFamily="2" charset="2"/>
              </a:rPr>
              <a:t>Incidence between 2021 and 2023?</a:t>
            </a:r>
          </a:p>
        </p:txBody>
      </p:sp>
    </p:spTree>
    <p:extLst>
      <p:ext uri="{BB962C8B-B14F-4D97-AF65-F5344CB8AC3E}">
        <p14:creationId xmlns:p14="http://schemas.microsoft.com/office/powerpoint/2010/main" val="37284859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5E2FE7-2608-C249-68CB-CFA2DDE095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Incidence vs prevalence: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F0F64E-3379-CAA5-5693-8602D39EF3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2106204"/>
            <a:ext cx="10972800" cy="4369242"/>
          </a:xfrm>
        </p:spPr>
        <p:txBody>
          <a:bodyPr>
            <a:normAutofit/>
          </a:bodyPr>
          <a:lstStyle/>
          <a:p>
            <a:pPr>
              <a:buClrTx/>
            </a:pPr>
            <a:endParaRPr lang="en-US" b="1" dirty="0">
              <a:sym typeface="Wingdings" panose="05000000000000000000" pitchFamily="2" charset="2"/>
            </a:endParaRPr>
          </a:p>
          <a:p>
            <a:pPr>
              <a:buClrTx/>
            </a:pPr>
            <a:endParaRPr lang="en-US" dirty="0">
              <a:sym typeface="Wingdings" panose="05000000000000000000" pitchFamily="2" charset="2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03B80AA-09B7-D77D-4DF8-007AE2AA5D54}"/>
              </a:ext>
            </a:extLst>
          </p:cNvPr>
          <p:cNvGraphicFramePr>
            <a:graphicFrameLocks noGrp="1"/>
          </p:cNvGraphicFramePr>
          <p:nvPr/>
        </p:nvGraphicFramePr>
        <p:xfrm>
          <a:off x="707053" y="2106204"/>
          <a:ext cx="8127999" cy="1752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3813076822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134381105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4263079831"/>
                    </a:ext>
                  </a:extLst>
                </a:gridCol>
              </a:tblGrid>
              <a:tr h="250751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Year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Number of children with a cold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Total number of children in the sample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593078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2021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54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500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526737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2022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84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500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276081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2023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65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500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22481717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700B855-CF04-D852-C98C-104202D4F4F1}"/>
                  </a:ext>
                </a:extLst>
              </p:cNvPr>
              <p:cNvSpPr txBox="1"/>
              <p:nvPr/>
            </p:nvSpPr>
            <p:spPr>
              <a:xfrm>
                <a:off x="706015" y="4060903"/>
                <a:ext cx="6097554" cy="6651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ClrTx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𝑃𝑟𝑒𝑣𝑎𝑙𝑒𝑛𝑐𝑒</m:t>
                      </m:r>
                      <m:r>
                        <a:rPr lang="en-GB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 </m:t>
                      </m:r>
                      <m:r>
                        <a:rPr lang="en-GB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𝑖𝑛</m:t>
                      </m:r>
                      <m:r>
                        <a:rPr lang="en-GB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 2021=</m:t>
                      </m:r>
                      <m:f>
                        <m:fPr>
                          <m:ctrlPr>
                            <a:rPr lang="en-GB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GB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𝑡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GB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GB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𝑡</m:t>
                              </m:r>
                            </m:sub>
                          </m:sSub>
                        </m:den>
                      </m:f>
                      <m:r>
                        <a:rPr lang="en-GB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×100%=</m:t>
                      </m:r>
                      <m:f>
                        <m:fPr>
                          <m:ctrlPr>
                            <a:rPr lang="en-GB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54</m:t>
                          </m:r>
                        </m:num>
                        <m:den>
                          <m:r>
                            <a:rPr lang="en-GB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500</m:t>
                          </m:r>
                        </m:den>
                      </m:f>
                      <m:r>
                        <a:rPr lang="en-GB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×100%=10.8%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  <a:sym typeface="Wingdings" panose="05000000000000000000" pitchFamily="2" charset="2"/>
                </a:endParaRP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700B855-CF04-D852-C98C-104202D4F4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6015" y="4060903"/>
                <a:ext cx="6097554" cy="66511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5F33699-14A8-713A-C54D-9080054D9BA8}"/>
                  </a:ext>
                </a:extLst>
              </p:cNvPr>
              <p:cNvSpPr txBox="1"/>
              <p:nvPr/>
            </p:nvSpPr>
            <p:spPr>
              <a:xfrm>
                <a:off x="706015" y="4726021"/>
                <a:ext cx="10312400" cy="6651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ClrTx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𝐼𝑛𝑓𝑒𝑐𝑡𝑖𝑜𝑛</m:t>
                      </m:r>
                      <m:r>
                        <a:rPr lang="en-GB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 </m:t>
                      </m:r>
                      <m:r>
                        <a:rPr lang="en-GB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𝑟𝑖𝑠𝑘</m:t>
                      </m:r>
                      <m:r>
                        <a:rPr lang="en-GB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 </m:t>
                      </m:r>
                      <m:r>
                        <a:rPr lang="en-GB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𝑖𝑛</m:t>
                      </m:r>
                      <m:r>
                        <a:rPr lang="en-GB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 2021/202</m:t>
                      </m:r>
                      <m:r>
                        <a:rPr lang="en-GB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2</m:t>
                      </m:r>
                      <m:r>
                        <a:rPr lang="en-GB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=</m:t>
                      </m:r>
                      <m:f>
                        <m:fPr>
                          <m:ctrlPr>
                            <a:rPr lang="en-GB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GB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𝑛𝑒𝑤</m:t>
                              </m:r>
                              <m:r>
                                <a:rPr lang="en-GB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 </m:t>
                              </m:r>
                              <m:r>
                                <a:rPr lang="en-GB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𝑡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GB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GB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r>
                        <a:rPr lang="en-GB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×100%=</m:t>
                      </m:r>
                      <m:f>
                        <m:fPr>
                          <m:ctrlPr>
                            <a:rPr lang="en-GB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84−54</m:t>
                          </m:r>
                        </m:num>
                        <m:den>
                          <m:r>
                            <a:rPr lang="en-GB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500</m:t>
                          </m:r>
                        </m:den>
                      </m:f>
                      <m:r>
                        <a:rPr lang="en-GB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×100%=</m:t>
                      </m:r>
                      <m:r>
                        <a:rPr lang="en-GB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6</m:t>
                      </m:r>
                      <m:r>
                        <a:rPr lang="en-GB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%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  <a:sym typeface="Wingdings" panose="05000000000000000000" pitchFamily="2" charset="2"/>
                </a:endParaRP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5F33699-14A8-713A-C54D-9080054D9B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6015" y="4726021"/>
                <a:ext cx="10312400" cy="66511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A27531C-BA73-1500-3A55-362C2A3E5F93}"/>
                  </a:ext>
                </a:extLst>
              </p:cNvPr>
              <p:cNvSpPr txBox="1"/>
              <p:nvPr/>
            </p:nvSpPr>
            <p:spPr>
              <a:xfrm>
                <a:off x="706015" y="5391139"/>
                <a:ext cx="10312400" cy="6651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ClrTx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𝐼𝑛𝑐𝑖𝑑𝑒𝑛𝑐𝑒</m:t>
                      </m:r>
                      <m:r>
                        <a:rPr lang="en-GB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 </m:t>
                      </m:r>
                      <m:r>
                        <a:rPr lang="en-GB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𝑟𝑎𝑡𝑒</m:t>
                      </m:r>
                      <m:r>
                        <a:rPr lang="en-GB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 </m:t>
                      </m:r>
                      <m:r>
                        <a:rPr lang="en-GB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𝑖𝑛</m:t>
                      </m:r>
                      <m:r>
                        <a:rPr lang="en-GB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 2021/202</m:t>
                      </m:r>
                      <m:r>
                        <a:rPr lang="en-GB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2</m:t>
                      </m:r>
                      <m:r>
                        <a:rPr lang="en-GB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=</m:t>
                      </m:r>
                      <m:f>
                        <m:fPr>
                          <m:ctrlPr>
                            <a:rPr lang="en-GB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GB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𝑛𝑒𝑤</m:t>
                              </m:r>
                              <m:r>
                                <a:rPr lang="en-GB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 </m:t>
                              </m:r>
                              <m:r>
                                <a:rPr lang="en-GB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𝑡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GB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GB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𝑡</m:t>
                              </m:r>
                            </m:sub>
                          </m:sSub>
                          <m:r>
                            <a:rPr lang="en-GB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×</m:t>
                          </m:r>
                          <m:r>
                            <a:rPr lang="en-GB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𝑡</m:t>
                          </m:r>
                        </m:den>
                      </m:f>
                      <m:r>
                        <a:rPr lang="en-GB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=</m:t>
                      </m:r>
                      <m:f>
                        <m:fPr>
                          <m:ctrlPr>
                            <a:rPr lang="en-GB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84−54</m:t>
                          </m:r>
                        </m:num>
                        <m:den>
                          <m:r>
                            <a:rPr lang="en-GB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500</m:t>
                          </m:r>
                          <m:r>
                            <a:rPr lang="en-GB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×1</m:t>
                          </m:r>
                        </m:den>
                      </m:f>
                      <m:r>
                        <a:rPr lang="en-GB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×100%=</m:t>
                      </m:r>
                      <m:r>
                        <a:rPr lang="en-GB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6</m:t>
                      </m:r>
                      <m:r>
                        <a:rPr lang="en-GB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%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  <a:sym typeface="Wingdings" panose="05000000000000000000" pitchFamily="2" charset="2"/>
                </a:endParaRP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A27531C-BA73-1500-3A55-362C2A3E5F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6015" y="5391139"/>
                <a:ext cx="10312400" cy="66511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F346A96-245C-0BEF-A7A5-D0AB816C2D13}"/>
                  </a:ext>
                </a:extLst>
              </p:cNvPr>
              <p:cNvSpPr txBox="1"/>
              <p:nvPr/>
            </p:nvSpPr>
            <p:spPr>
              <a:xfrm>
                <a:off x="706015" y="6056257"/>
                <a:ext cx="10312400" cy="6651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ClrTx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𝐼𝑛𝑐𝑖𝑑𝑒𝑛𝑐𝑒</m:t>
                      </m:r>
                      <m:r>
                        <a:rPr lang="en-GB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 </m:t>
                      </m:r>
                      <m:r>
                        <a:rPr lang="en-GB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𝑟𝑎𝑡𝑒</m:t>
                      </m:r>
                      <m:r>
                        <a:rPr lang="en-GB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 </m:t>
                      </m:r>
                      <m:r>
                        <a:rPr lang="en-GB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𝑖𝑛</m:t>
                      </m:r>
                      <m:r>
                        <a:rPr lang="en-GB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 2021/202</m:t>
                      </m:r>
                      <m:r>
                        <a:rPr lang="en-GB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3</m:t>
                      </m:r>
                      <m:r>
                        <a:rPr lang="en-GB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=</m:t>
                      </m:r>
                      <m:f>
                        <m:fPr>
                          <m:ctrlPr>
                            <a:rPr lang="en-GB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GB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𝑛𝑒𝑤</m:t>
                              </m:r>
                              <m:r>
                                <a:rPr lang="en-GB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 </m:t>
                              </m:r>
                              <m:r>
                                <a:rPr lang="en-GB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𝑡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GB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GB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𝑡</m:t>
                              </m:r>
                            </m:sub>
                          </m:sSub>
                          <m:r>
                            <a:rPr lang="en-GB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×</m:t>
                          </m:r>
                          <m:r>
                            <a:rPr lang="en-GB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𝑡</m:t>
                          </m:r>
                        </m:den>
                      </m:f>
                      <m:r>
                        <a:rPr lang="en-GB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=</m:t>
                      </m:r>
                      <m:f>
                        <m:fPr>
                          <m:ctrlPr>
                            <a:rPr lang="en-GB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65−54</m:t>
                          </m:r>
                        </m:num>
                        <m:den>
                          <m:r>
                            <a:rPr lang="en-GB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500</m:t>
                          </m:r>
                          <m:r>
                            <a:rPr lang="en-GB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×2</m:t>
                          </m:r>
                        </m:den>
                      </m:f>
                      <m:r>
                        <a:rPr lang="en-GB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×100%=</m:t>
                      </m:r>
                      <m:r>
                        <a:rPr lang="en-GB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1.1</m:t>
                      </m:r>
                      <m:r>
                        <a:rPr lang="en-GB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%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  <a:sym typeface="Wingdings" panose="05000000000000000000" pitchFamily="2" charset="2"/>
                </a:endParaRPr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F346A96-245C-0BEF-A7A5-D0AB816C2D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6015" y="6056257"/>
                <a:ext cx="10312400" cy="66511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60867843"/>
      </p:ext>
    </p:extLst>
  </p:cSld>
  <p:clrMapOvr>
    <a:masterClrMapping/>
  </p:clrMapOvr>
</p:sld>
</file>

<file path=ppt/theme/theme1.xml><?xml version="1.0" encoding="utf-8"?>
<a:theme xmlns:a="http://schemas.openxmlformats.org/drawingml/2006/main" name="SplashVTI">
  <a:themeElements>
    <a:clrScheme name="AnalogousFromLightSeedLeftStep">
      <a:dk1>
        <a:srgbClr val="000000"/>
      </a:dk1>
      <a:lt1>
        <a:srgbClr val="FFFFFF"/>
      </a:lt1>
      <a:dk2>
        <a:srgbClr val="41242F"/>
      </a:dk2>
      <a:lt2>
        <a:srgbClr val="E2E4E8"/>
      </a:lt2>
      <a:accent1>
        <a:srgbClr val="C6992F"/>
      </a:accent1>
      <a:accent2>
        <a:srgbClr val="EB7B4E"/>
      </a:accent2>
      <a:accent3>
        <a:srgbClr val="EE6E7F"/>
      </a:accent3>
      <a:accent4>
        <a:srgbClr val="EB4EA4"/>
      </a:accent4>
      <a:accent5>
        <a:srgbClr val="EE6EEA"/>
      </a:accent5>
      <a:accent6>
        <a:srgbClr val="AF4EEB"/>
      </a:accent6>
      <a:hlink>
        <a:srgbClr val="697EAE"/>
      </a:hlink>
      <a:folHlink>
        <a:srgbClr val="7F7F7F"/>
      </a:folHlink>
    </a:clrScheme>
    <a:fontScheme name="Custom 23">
      <a:majorFont>
        <a:latin typeface="Posterama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plashVTI" id="{CD38C481-21EC-466B-953B-A1440B42712A}" vid="{D3E4813C-1D98-48C2-AF59-2D0D78E2550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666</TotalTime>
  <Words>1195</Words>
  <Application>Microsoft Office PowerPoint</Application>
  <PresentationFormat>Widescreen</PresentationFormat>
  <Paragraphs>136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Arial</vt:lpstr>
      <vt:lpstr>Avenir Next LT Pro</vt:lpstr>
      <vt:lpstr>Cambria Math</vt:lpstr>
      <vt:lpstr>Posterama</vt:lpstr>
      <vt:lpstr>Wingdings</vt:lpstr>
      <vt:lpstr>SplashVTI</vt:lpstr>
      <vt:lpstr>From germs… to people</vt:lpstr>
      <vt:lpstr>What do we know so far</vt:lpstr>
      <vt:lpstr>Population versus sample</vt:lpstr>
      <vt:lpstr>Collecting data from a population</vt:lpstr>
      <vt:lpstr>Collecting data from a sample</vt:lpstr>
      <vt:lpstr>Is the sample randomly selected?  Is it representative?</vt:lpstr>
      <vt:lpstr>Is the sample randomly selected?  Is it representative?</vt:lpstr>
      <vt:lpstr>Why we need data?</vt:lpstr>
      <vt:lpstr>The sample to the rescue!</vt:lpstr>
      <vt:lpstr>The important value of being a good sample</vt:lpstr>
      <vt:lpstr>Workshop interval</vt:lpstr>
      <vt:lpstr>Recap from the workshop</vt:lpstr>
      <vt:lpstr>Incidence vs prevalence of a disease</vt:lpstr>
      <vt:lpstr>Incidence vs prevalence of a disease</vt:lpstr>
      <vt:lpstr>Incidence vs prevalence of a disease</vt:lpstr>
      <vt:lpstr>Incidence vs prevalence: example</vt:lpstr>
      <vt:lpstr>Incidence vs prevalence: example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Ilaria Bussoli</dc:creator>
  <cp:lastModifiedBy>Ilaria Bussoli</cp:lastModifiedBy>
  <cp:revision>22</cp:revision>
  <dcterms:created xsi:type="dcterms:W3CDTF">2024-03-08T15:22:43Z</dcterms:created>
  <dcterms:modified xsi:type="dcterms:W3CDTF">2024-03-09T06:12:00Z</dcterms:modified>
</cp:coreProperties>
</file>